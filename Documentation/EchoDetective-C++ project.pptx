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handoutMasterIdLst>
    <p:handoutMasterId r:id="rId15"/>
  </p:handout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7B83"/>
    <a:srgbClr val="000099"/>
    <a:srgbClr val="33CCFF"/>
    <a:srgbClr val="F2F6F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75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1BC6C0-7AF1-42F8-A059-0133E949752B}" type="datetimeFigureOut">
              <a:rPr lang="en-IN" smtClean="0"/>
              <a:t>23-10-2026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D51F55-4D18-417B-9C4F-3028D7F8F96A}" type="slidenum">
              <a:rPr lang="en-IN" smtClean="0"/>
              <a:t>‹#›</a:t>
            </a:fld>
            <a:endParaRPr lang="en-IN"/>
          </a:p>
        </p:txBody>
      </p:sp>
    </p:spTree>
    <p:extLst>
      <p:ext uri="{BB962C8B-B14F-4D97-AF65-F5344CB8AC3E}">
        <p14:creationId xmlns:p14="http://schemas.microsoft.com/office/powerpoint/2010/main" val="36193243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9EE82E-C1D7-42DE-A662-61B1E9A4E58C}" type="datetimeFigureOut">
              <a:rPr lang="en-IN" smtClean="0"/>
              <a:t>23-10-2026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5CA9FC-D595-4B26-86BF-59B6B02748A0}" type="slidenum">
              <a:rPr lang="en-IN" smtClean="0"/>
              <a:t>‹#›</a:t>
            </a:fld>
            <a:endParaRPr lang="en-IN"/>
          </a:p>
        </p:txBody>
      </p:sp>
    </p:spTree>
    <p:extLst>
      <p:ext uri="{BB962C8B-B14F-4D97-AF65-F5344CB8AC3E}">
        <p14:creationId xmlns:p14="http://schemas.microsoft.com/office/powerpoint/2010/main" val="1791487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258458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522666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827232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893656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908483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203387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7332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www.mheducation.co.in/object-oriented-programming-with-c-9789364445016-india?utm_source=chatgpt.com"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3112A"/>
        </a:solidFill>
        <a:effectLst/>
      </p:bgPr>
    </p:bg>
    <p:spTree>
      <p:nvGrpSpPr>
        <p:cNvPr id="1" name=""/>
        <p:cNvGrpSpPr/>
        <p:nvPr/>
      </p:nvGrpSpPr>
      <p:grpSpPr>
        <a:xfrm>
          <a:off x="0" y="0"/>
          <a:ext cx="0" cy="0"/>
          <a:chOff x="0" y="0"/>
          <a:chExt cx="0" cy="0"/>
        </a:xfrm>
      </p:grpSpPr>
      <p:cxnSp>
        <p:nvCxnSpPr>
          <p:cNvPr id="2" name="Connector 1"/>
          <p:cNvCxnSpPr/>
          <p:nvPr/>
        </p:nvCxnSpPr>
        <p:spPr>
          <a:xfrm>
            <a:off x="6217920" y="182880"/>
            <a:ext cx="0" cy="6410516"/>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601968" y="182880"/>
            <a:ext cx="0" cy="649224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986016" y="182880"/>
            <a:ext cx="0" cy="649224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370064" y="182880"/>
            <a:ext cx="0" cy="649224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754112" y="182880"/>
            <a:ext cx="0" cy="649224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138160" y="182880"/>
            <a:ext cx="0" cy="649224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522208" y="182880"/>
            <a:ext cx="0" cy="649224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906256" y="182880"/>
            <a:ext cx="0" cy="649224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290304" y="182880"/>
            <a:ext cx="0" cy="649224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74352" y="182880"/>
            <a:ext cx="0" cy="649224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058400" y="182880"/>
            <a:ext cx="0" cy="649224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442448" y="182880"/>
            <a:ext cx="0" cy="649224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826496" y="182880"/>
            <a:ext cx="0" cy="649224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210544" y="182880"/>
            <a:ext cx="0" cy="649224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594592" y="182880"/>
            <a:ext cx="0" cy="649224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978640" y="182880"/>
            <a:ext cx="0" cy="649224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080760" y="228600"/>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080760" y="612647"/>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80760" y="996695"/>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80760" y="1380744"/>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80760" y="1764792"/>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80760" y="2148840"/>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080760" y="2532888"/>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080760" y="2916936"/>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080760" y="3300984"/>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080760" y="3685031"/>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80760" y="4069080"/>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80760" y="4453128"/>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080760" y="4837176"/>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080760" y="5221224"/>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080760" y="5605272"/>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080760" y="5989320"/>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80760" y="6373368"/>
            <a:ext cx="5897880"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0" y="0"/>
            <a:ext cx="68580" cy="6858000"/>
          </a:xfrm>
          <a:prstGeom prst="rect">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Parallelogram 35"/>
          <p:cNvSpPr/>
          <p:nvPr/>
        </p:nvSpPr>
        <p:spPr>
          <a:xfrm>
            <a:off x="0" y="0"/>
            <a:ext cx="1005840" cy="100584"/>
          </a:xfrm>
          <a:prstGeom prst="parallelogram">
            <a:avLst/>
          </a:prstGeom>
          <a:solidFill>
            <a:srgbClr val="00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Parallelogram 36"/>
          <p:cNvSpPr/>
          <p:nvPr/>
        </p:nvSpPr>
        <p:spPr>
          <a:xfrm>
            <a:off x="182880" y="0"/>
            <a:ext cx="1280160" cy="41148"/>
          </a:xfrm>
          <a:prstGeom prst="parallelogram">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college_logo_crop.png"/>
          <p:cNvPicPr>
            <a:picLocks noChangeAspect="1"/>
          </p:cNvPicPr>
          <p:nvPr/>
        </p:nvPicPr>
        <p:blipFill>
          <a:blip r:embed="rId2"/>
          <a:stretch>
            <a:fillRect/>
          </a:stretch>
        </p:blipFill>
        <p:spPr>
          <a:xfrm>
            <a:off x="621792" y="256032"/>
            <a:ext cx="2240280" cy="1481328"/>
          </a:xfrm>
          <a:prstGeom prst="rect">
            <a:avLst/>
          </a:prstGeom>
        </p:spPr>
      </p:pic>
      <p:pic>
        <p:nvPicPr>
          <p:cNvPr id="39" name="Picture 38" descr="seal_logo_crop.png"/>
          <p:cNvPicPr>
            <a:picLocks noChangeAspect="1"/>
          </p:cNvPicPr>
          <p:nvPr/>
        </p:nvPicPr>
        <p:blipFill>
          <a:blip r:embed="rId3"/>
          <a:stretch>
            <a:fillRect/>
          </a:stretch>
        </p:blipFill>
        <p:spPr>
          <a:xfrm>
            <a:off x="4123945" y="245822"/>
            <a:ext cx="1691640" cy="1600200"/>
          </a:xfrm>
          <a:prstGeom prst="rect">
            <a:avLst/>
          </a:prstGeom>
        </p:spPr>
      </p:pic>
      <p:sp>
        <p:nvSpPr>
          <p:cNvPr id="40" name="Rounded Rectangle 39"/>
          <p:cNvSpPr/>
          <p:nvPr/>
        </p:nvSpPr>
        <p:spPr>
          <a:xfrm>
            <a:off x="9646920" y="438912"/>
            <a:ext cx="1874519" cy="438912"/>
          </a:xfrm>
          <a:prstGeom prst="roundRect">
            <a:avLst/>
          </a:prstGeom>
          <a:solidFill>
            <a:srgbClr val="05234B"/>
          </a:solidFill>
          <a:ln w="15240">
            <a:solidFill>
              <a:srgbClr val="00E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902952" y="594360"/>
            <a:ext cx="91440" cy="91440"/>
          </a:xfrm>
          <a:prstGeom prst="ellipse">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076688" y="448056"/>
            <a:ext cx="1307592" cy="411480"/>
          </a:xfrm>
          <a:prstGeom prst="rect">
            <a:avLst/>
          </a:prstGeom>
          <a:noFill/>
        </p:spPr>
        <p:txBody>
          <a:bodyPr wrap="none" lIns="0" tIns="0" rIns="0" bIns="0" anchor="ctr">
            <a:spAutoFit/>
          </a:bodyPr>
          <a:lstStyle/>
          <a:p>
            <a:pPr algn="ctr">
              <a:spcAft>
                <a:spcPts val="0"/>
              </a:spcAft>
            </a:pPr>
            <a:r>
              <a:rPr sz="1000" b="1">
                <a:solidFill>
                  <a:srgbClr val="EFF7FF"/>
                </a:solidFill>
                <a:latin typeface="Aptos"/>
              </a:rPr>
              <a:t>CASE FILE 001</a:t>
            </a:r>
          </a:p>
        </p:txBody>
      </p:sp>
      <p:sp>
        <p:nvSpPr>
          <p:cNvPr id="43" name="TextBox 42"/>
          <p:cNvSpPr txBox="1"/>
          <p:nvPr/>
        </p:nvSpPr>
        <p:spPr>
          <a:xfrm>
            <a:off x="644652" y="2010476"/>
            <a:ext cx="5303520" cy="685800"/>
          </a:xfrm>
          <a:prstGeom prst="rect">
            <a:avLst/>
          </a:prstGeom>
          <a:noFill/>
        </p:spPr>
        <p:txBody>
          <a:bodyPr wrap="none" lIns="0" tIns="0" rIns="0" bIns="0" anchor="ctr">
            <a:spAutoFit/>
          </a:bodyPr>
          <a:lstStyle/>
          <a:p>
            <a:pPr algn="l">
              <a:spcAft>
                <a:spcPts val="0"/>
              </a:spcAft>
            </a:pPr>
            <a:r>
              <a:rPr sz="4800" b="1" dirty="0">
                <a:solidFill>
                  <a:srgbClr val="EFF7FF"/>
                </a:solidFill>
                <a:latin typeface="Aptos Display"/>
              </a:rPr>
              <a:t>ECHO</a:t>
            </a:r>
          </a:p>
        </p:txBody>
      </p:sp>
      <p:sp>
        <p:nvSpPr>
          <p:cNvPr id="44" name="TextBox 43"/>
          <p:cNvSpPr txBox="1"/>
          <p:nvPr/>
        </p:nvSpPr>
        <p:spPr>
          <a:xfrm>
            <a:off x="2670048" y="2007106"/>
            <a:ext cx="5669280" cy="731520"/>
          </a:xfrm>
          <a:prstGeom prst="rect">
            <a:avLst/>
          </a:prstGeom>
          <a:noFill/>
        </p:spPr>
        <p:txBody>
          <a:bodyPr wrap="none" lIns="0" tIns="0" rIns="0" bIns="0" anchor="ctr">
            <a:spAutoFit/>
          </a:bodyPr>
          <a:lstStyle/>
          <a:p>
            <a:pPr algn="l">
              <a:spcAft>
                <a:spcPts val="0"/>
              </a:spcAft>
            </a:pPr>
            <a:r>
              <a:rPr sz="4800" b="1" dirty="0">
                <a:solidFill>
                  <a:srgbClr val="00E1FF"/>
                </a:solidFill>
                <a:latin typeface="Aptos Display"/>
              </a:rPr>
              <a:t>DETECTIVE</a:t>
            </a:r>
          </a:p>
        </p:txBody>
      </p:sp>
      <p:sp>
        <p:nvSpPr>
          <p:cNvPr id="45" name="Rectangle 44"/>
          <p:cNvSpPr/>
          <p:nvPr/>
        </p:nvSpPr>
        <p:spPr>
          <a:xfrm>
            <a:off x="749808" y="2857500"/>
            <a:ext cx="1051560" cy="64008"/>
          </a:xfrm>
          <a:prstGeom prst="rect">
            <a:avLst/>
          </a:prstGeom>
          <a:solidFill>
            <a:srgbClr val="00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956816" y="2857500"/>
            <a:ext cx="502920" cy="64008"/>
          </a:xfrm>
          <a:prstGeom prst="rect">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3222" y="3088767"/>
            <a:ext cx="3645422" cy="307777"/>
          </a:xfrm>
          <a:prstGeom prst="rect">
            <a:avLst/>
          </a:prstGeom>
          <a:noFill/>
        </p:spPr>
        <p:txBody>
          <a:bodyPr wrap="none" lIns="0" tIns="0" rIns="0" bIns="0" anchor="ctr">
            <a:spAutoFit/>
          </a:bodyPr>
          <a:lstStyle/>
          <a:p>
            <a:pPr algn="l">
              <a:spcAft>
                <a:spcPts val="0"/>
              </a:spcAft>
            </a:pPr>
            <a:r>
              <a:rPr sz="2000" b="0" dirty="0">
                <a:solidFill>
                  <a:srgbClr val="FFFF00"/>
                </a:solidFill>
                <a:latin typeface="Aptos"/>
              </a:rPr>
              <a:t>Listen closely. Follow the signal.</a:t>
            </a:r>
          </a:p>
        </p:txBody>
      </p:sp>
      <p:sp>
        <p:nvSpPr>
          <p:cNvPr id="55" name="Rounded Rectangle 54"/>
          <p:cNvSpPr/>
          <p:nvPr/>
        </p:nvSpPr>
        <p:spPr>
          <a:xfrm>
            <a:off x="6565392" y="1234440"/>
            <a:ext cx="4919472" cy="4526280"/>
          </a:xfrm>
          <a:prstGeom prst="roundRect">
            <a:avLst/>
          </a:prstGeom>
          <a:solidFill>
            <a:srgbClr val="041B3D"/>
          </a:solidFill>
          <a:ln w="15240">
            <a:solidFill>
              <a:srgbClr val="00E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903720" y="1417320"/>
            <a:ext cx="2651760" cy="256032"/>
          </a:xfrm>
          <a:prstGeom prst="rect">
            <a:avLst/>
          </a:prstGeom>
          <a:noFill/>
        </p:spPr>
        <p:txBody>
          <a:bodyPr wrap="none" lIns="0" tIns="0" rIns="0" bIns="0" anchor="ctr">
            <a:spAutoFit/>
          </a:bodyPr>
          <a:lstStyle/>
          <a:p>
            <a:pPr algn="l">
              <a:spcAft>
                <a:spcPts val="0"/>
              </a:spcAft>
            </a:pPr>
            <a:r>
              <a:rPr sz="900" b="1">
                <a:solidFill>
                  <a:srgbClr val="9EC5E7"/>
                </a:solidFill>
                <a:latin typeface="Consolas"/>
              </a:rPr>
              <a:t>AUDIO TRACE // LIVE VIEW</a:t>
            </a:r>
          </a:p>
        </p:txBody>
      </p:sp>
      <p:sp>
        <p:nvSpPr>
          <p:cNvPr id="57" name="Oval 56"/>
          <p:cNvSpPr/>
          <p:nvPr/>
        </p:nvSpPr>
        <p:spPr>
          <a:xfrm>
            <a:off x="10899648" y="1481328"/>
            <a:ext cx="100584" cy="100584"/>
          </a:xfrm>
          <a:prstGeom prst="ellipse">
            <a:avLst/>
          </a:prstGeom>
          <a:solidFill>
            <a:srgbClr val="00F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1045952" y="1408176"/>
            <a:ext cx="256032" cy="228600"/>
          </a:xfrm>
          <a:prstGeom prst="rect">
            <a:avLst/>
          </a:prstGeom>
          <a:noFill/>
        </p:spPr>
        <p:txBody>
          <a:bodyPr wrap="none" lIns="0" tIns="0" rIns="0" bIns="0" anchor="ctr">
            <a:spAutoFit/>
          </a:bodyPr>
          <a:lstStyle/>
          <a:p>
            <a:pPr algn="l">
              <a:spcAft>
                <a:spcPts val="0"/>
              </a:spcAft>
            </a:pPr>
            <a:r>
              <a:rPr sz="800" b="1">
                <a:solidFill>
                  <a:srgbClr val="00FFB2"/>
                </a:solidFill>
                <a:latin typeface="Consolas"/>
              </a:rPr>
              <a:t>ON</a:t>
            </a:r>
          </a:p>
        </p:txBody>
      </p:sp>
      <p:sp>
        <p:nvSpPr>
          <p:cNvPr id="59" name="Oval 58"/>
          <p:cNvSpPr/>
          <p:nvPr/>
        </p:nvSpPr>
        <p:spPr>
          <a:xfrm>
            <a:off x="7776972" y="1924812"/>
            <a:ext cx="2514600" cy="2514600"/>
          </a:xfrm>
          <a:prstGeom prst="ellipse">
            <a:avLst/>
          </a:prstGeom>
          <a:noFill/>
          <a:ln w="12700">
            <a:solidFill>
              <a:srgbClr val="008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8074152" y="2221991"/>
            <a:ext cx="1920240" cy="1920240"/>
          </a:xfrm>
          <a:prstGeom prst="ellipse">
            <a:avLst/>
          </a:prstGeom>
          <a:noFill/>
          <a:ln w="12700">
            <a:solidFill>
              <a:srgbClr val="008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8357616" y="2505456"/>
            <a:ext cx="1353312" cy="1353312"/>
          </a:xfrm>
          <a:prstGeom prst="ellipse">
            <a:avLst/>
          </a:prstGeom>
          <a:noFill/>
          <a:ln w="12700">
            <a:solidFill>
              <a:srgbClr val="00E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8659368" y="2807208"/>
            <a:ext cx="749808" cy="749808"/>
          </a:xfrm>
          <a:prstGeom prst="ellipse">
            <a:avLst/>
          </a:prstGeom>
          <a:noFill/>
          <a:ln w="12700">
            <a:solidFill>
              <a:srgbClr val="00E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3" name="Connector 62"/>
          <p:cNvCxnSpPr/>
          <p:nvPr/>
        </p:nvCxnSpPr>
        <p:spPr>
          <a:xfrm>
            <a:off x="7589520" y="3182112"/>
            <a:ext cx="2889504" cy="0"/>
          </a:xfrm>
          <a:prstGeom prst="line">
            <a:avLst/>
          </a:prstGeom>
          <a:ln w="1016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034272" y="1737360"/>
            <a:ext cx="0" cy="2889504"/>
          </a:xfrm>
          <a:prstGeom prst="line">
            <a:avLst/>
          </a:prstGeom>
          <a:ln w="1016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9034272" y="2249424"/>
            <a:ext cx="1097280" cy="932688"/>
          </a:xfrm>
          <a:prstGeom prst="line">
            <a:avLst/>
          </a:prstGeom>
          <a:ln w="27940">
            <a:solidFill>
              <a:srgbClr val="00E1FF"/>
            </a:solidFill>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9980676" y="2336292"/>
            <a:ext cx="118872" cy="118872"/>
          </a:xfrm>
          <a:prstGeom prst="ellipse">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8321040" y="2715768"/>
            <a:ext cx="91440" cy="91440"/>
          </a:xfrm>
          <a:prstGeom prst="ellipse">
            <a:avLst/>
          </a:prstGeom>
          <a:solidFill>
            <a:srgbClr val="00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9349740" y="3808476"/>
            <a:ext cx="100584" cy="100584"/>
          </a:xfrm>
          <a:prstGeom prst="ellipse">
            <a:avLst/>
          </a:prstGeom>
          <a:solidFill>
            <a:srgbClr val="9B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8540496" y="3456432"/>
            <a:ext cx="73152" cy="73152"/>
          </a:xfrm>
          <a:prstGeom prst="ellipse">
            <a:avLst/>
          </a:prstGeom>
          <a:solidFill>
            <a:srgbClr val="00F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p:cNvSpPr/>
          <p:nvPr/>
        </p:nvSpPr>
        <p:spPr>
          <a:xfrm>
            <a:off x="6885432" y="4645152"/>
            <a:ext cx="4251960" cy="758952"/>
          </a:xfrm>
          <a:prstGeom prst="roundRect">
            <a:avLst/>
          </a:prstGeom>
          <a:solidFill>
            <a:srgbClr val="021026"/>
          </a:solidFill>
          <a:ln w="11430">
            <a:solidFill>
              <a:srgbClr val="008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1" name="Connector 70"/>
          <p:cNvCxnSpPr/>
          <p:nvPr/>
        </p:nvCxnSpPr>
        <p:spPr>
          <a:xfrm flipV="1">
            <a:off x="7114032" y="4999573"/>
            <a:ext cx="164989" cy="20483"/>
          </a:xfrm>
          <a:prstGeom prst="line">
            <a:avLst/>
          </a:prstGeom>
          <a:ln w="1778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7279021" y="4938125"/>
            <a:ext cx="164990" cy="61448"/>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444011" y="4938125"/>
            <a:ext cx="164989" cy="107534"/>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7609000" y="4902281"/>
            <a:ext cx="164990" cy="143378"/>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7773990" y="4902281"/>
            <a:ext cx="164989" cy="256032"/>
          </a:xfrm>
          <a:prstGeom prst="line">
            <a:avLst/>
          </a:prstGeom>
          <a:ln w="1778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7938979" y="4973970"/>
            <a:ext cx="164990" cy="184343"/>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8103969" y="4804989"/>
            <a:ext cx="164989" cy="168981"/>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268958" y="4804989"/>
            <a:ext cx="164990" cy="296997"/>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8433948" y="4897160"/>
            <a:ext cx="164990" cy="204826"/>
          </a:xfrm>
          <a:prstGeom prst="line">
            <a:avLst/>
          </a:prstGeom>
          <a:ln w="1778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598938" y="4897160"/>
            <a:ext cx="164989" cy="343083"/>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8763927" y="4948367"/>
            <a:ext cx="164990" cy="291876"/>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8928917" y="4861316"/>
            <a:ext cx="164989" cy="87051"/>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093906" y="4861316"/>
            <a:ext cx="164990" cy="209946"/>
          </a:xfrm>
          <a:prstGeom prst="line">
            <a:avLst/>
          </a:prstGeom>
          <a:ln w="1778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9258896" y="4764024"/>
            <a:ext cx="164989" cy="307238"/>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423885" y="4764024"/>
            <a:ext cx="164990" cy="368686"/>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9588875" y="4989332"/>
            <a:ext cx="164990" cy="143378"/>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9753865" y="4989332"/>
            <a:ext cx="164989" cy="215067"/>
          </a:xfrm>
          <a:prstGeom prst="line">
            <a:avLst/>
          </a:prstGeom>
          <a:ln w="1778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9918854" y="4927884"/>
            <a:ext cx="164990" cy="276515"/>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0083844" y="4927884"/>
            <a:ext cx="164989" cy="66568"/>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0248833" y="4994452"/>
            <a:ext cx="164990" cy="87051"/>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0413823" y="4876678"/>
            <a:ext cx="164989" cy="204825"/>
          </a:xfrm>
          <a:prstGeom prst="line">
            <a:avLst/>
          </a:prstGeom>
          <a:ln w="1778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0578812" y="4876678"/>
            <a:ext cx="164990" cy="168981"/>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0743802" y="5009814"/>
            <a:ext cx="164990" cy="35845"/>
          </a:xfrm>
          <a:prstGeom prst="line">
            <a:avLst/>
          </a:prstGeom>
          <a:ln w="17780">
            <a:solidFill>
              <a:srgbClr val="00E1FF"/>
            </a:solidFill>
          </a:ln>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11109960" y="3538728"/>
            <a:ext cx="16459" cy="146304"/>
          </a:xfrm>
          <a:prstGeom prst="rect">
            <a:avLst/>
          </a:prstGeom>
          <a:solidFill>
            <a:srgbClr val="00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11141964" y="3497580"/>
            <a:ext cx="16459" cy="228600"/>
          </a:xfrm>
          <a:prstGeom prst="rect">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a:off x="11173968" y="3442716"/>
            <a:ext cx="16459" cy="338328"/>
          </a:xfrm>
          <a:prstGeom prst="rect">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11205972" y="3506724"/>
            <a:ext cx="16459" cy="210312"/>
          </a:xfrm>
          <a:prstGeom prst="rect">
            <a:avLst/>
          </a:prstGeom>
          <a:solidFill>
            <a:srgbClr val="00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11237976" y="3392424"/>
            <a:ext cx="16459" cy="438912"/>
          </a:xfrm>
          <a:prstGeom prst="rect">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11269980" y="3332988"/>
            <a:ext cx="16459" cy="557784"/>
          </a:xfrm>
          <a:prstGeom prst="rect">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11301984" y="3451860"/>
            <a:ext cx="16459" cy="320040"/>
          </a:xfrm>
          <a:prstGeom prst="rect">
            <a:avLst/>
          </a:prstGeom>
          <a:solidFill>
            <a:srgbClr val="00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11333988" y="3383280"/>
            <a:ext cx="16459" cy="457200"/>
          </a:xfrm>
          <a:prstGeom prst="rect">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11365992" y="3483864"/>
            <a:ext cx="16459" cy="256032"/>
          </a:xfrm>
          <a:prstGeom prst="rect">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ectangle 102"/>
          <p:cNvSpPr/>
          <p:nvPr/>
        </p:nvSpPr>
        <p:spPr>
          <a:xfrm>
            <a:off x="11397996" y="3419856"/>
            <a:ext cx="16459" cy="384048"/>
          </a:xfrm>
          <a:prstGeom prst="rect">
            <a:avLst/>
          </a:prstGeom>
          <a:solidFill>
            <a:srgbClr val="00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11430000" y="3511296"/>
            <a:ext cx="16459" cy="201168"/>
          </a:xfrm>
          <a:prstGeom prst="rect">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11462004" y="3543300"/>
            <a:ext cx="16459" cy="137160"/>
          </a:xfrm>
          <a:prstGeom prst="rect">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ounded Rectangle 105"/>
          <p:cNvSpPr/>
          <p:nvPr/>
        </p:nvSpPr>
        <p:spPr>
          <a:xfrm>
            <a:off x="7315200" y="5961888"/>
            <a:ext cx="3840480" cy="493776"/>
          </a:xfrm>
          <a:prstGeom prst="roundRect">
            <a:avLst/>
          </a:prstGeom>
          <a:solidFill>
            <a:srgbClr val="05234B"/>
          </a:solidFill>
          <a:ln w="11430">
            <a:solidFill>
              <a:srgbClr val="008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7516368" y="5961888"/>
            <a:ext cx="3474720" cy="493776"/>
          </a:xfrm>
          <a:prstGeom prst="rect">
            <a:avLst/>
          </a:prstGeom>
          <a:noFill/>
        </p:spPr>
        <p:txBody>
          <a:bodyPr wrap="none" lIns="0" tIns="0" rIns="0" bIns="0" anchor="ctr">
            <a:spAutoFit/>
          </a:bodyPr>
          <a:lstStyle/>
          <a:p>
            <a:pPr algn="l">
              <a:spcAft>
                <a:spcPts val="0"/>
              </a:spcAft>
            </a:pPr>
            <a:r>
              <a:rPr sz="1100" b="0">
                <a:solidFill>
                  <a:srgbClr val="00FFB2"/>
                </a:solidFill>
                <a:latin typeface="Consolas"/>
              </a:rPr>
              <a:t>if (clue_found) { investigate(); }</a:t>
            </a:r>
          </a:p>
        </p:txBody>
      </p:sp>
      <p:cxnSp>
        <p:nvCxnSpPr>
          <p:cNvPr id="108" name="Connector 107"/>
          <p:cNvCxnSpPr/>
          <p:nvPr/>
        </p:nvCxnSpPr>
        <p:spPr>
          <a:xfrm>
            <a:off x="0" y="5742432"/>
            <a:ext cx="548640" cy="0"/>
          </a:xfrm>
          <a:prstGeom prst="line">
            <a:avLst/>
          </a:prstGeom>
          <a:ln w="1397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758952" y="5742432"/>
            <a:ext cx="475488" cy="0"/>
          </a:xfrm>
          <a:prstGeom prst="line">
            <a:avLst/>
          </a:prstGeom>
          <a:ln w="13970">
            <a:solidFill>
              <a:srgbClr val="00E1FF"/>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325880" y="5691470"/>
            <a:ext cx="1250342" cy="138499"/>
          </a:xfrm>
          <a:prstGeom prst="rect">
            <a:avLst/>
          </a:prstGeom>
          <a:noFill/>
        </p:spPr>
        <p:txBody>
          <a:bodyPr wrap="none" lIns="0" tIns="0" rIns="0" bIns="0" anchor="ctr">
            <a:spAutoFit/>
          </a:bodyPr>
          <a:lstStyle/>
          <a:p>
            <a:pPr algn="l">
              <a:spcAft>
                <a:spcPts val="0"/>
              </a:spcAft>
            </a:pPr>
            <a:r>
              <a:rPr sz="900" b="1" dirty="0">
                <a:solidFill>
                  <a:srgbClr val="FFFF00"/>
                </a:solidFill>
                <a:latin typeface="Aptos"/>
              </a:rPr>
              <a:t>P R E S E N T E D   B Y</a:t>
            </a:r>
          </a:p>
        </p:txBody>
      </p:sp>
      <p:sp>
        <p:nvSpPr>
          <p:cNvPr id="111" name="TextBox 110"/>
          <p:cNvSpPr txBox="1"/>
          <p:nvPr/>
        </p:nvSpPr>
        <p:spPr>
          <a:xfrm>
            <a:off x="768096" y="5943710"/>
            <a:ext cx="1329595" cy="292388"/>
          </a:xfrm>
          <a:prstGeom prst="rect">
            <a:avLst/>
          </a:prstGeom>
          <a:noFill/>
        </p:spPr>
        <p:txBody>
          <a:bodyPr wrap="none" lIns="0" tIns="0" rIns="0" bIns="0" anchor="ctr">
            <a:spAutoFit/>
          </a:bodyPr>
          <a:lstStyle/>
          <a:p>
            <a:pPr algn="l">
              <a:spcAft>
                <a:spcPts val="0"/>
              </a:spcAft>
            </a:pPr>
            <a:r>
              <a:rPr sz="1900" b="1" dirty="0">
                <a:solidFill>
                  <a:srgbClr val="00E1FF"/>
                </a:solidFill>
                <a:latin typeface="Aptos"/>
              </a:rPr>
              <a:t>HET </a:t>
            </a:r>
            <a:r>
              <a:rPr sz="1900" b="1" dirty="0">
                <a:solidFill>
                  <a:srgbClr val="00E1FF"/>
                </a:solidFill>
                <a:latin typeface="Times New Roman" panose="02020603050405020304" pitchFamily="18" charset="0"/>
                <a:cs typeface="Times New Roman" panose="02020603050405020304" pitchFamily="18" charset="0"/>
              </a:rPr>
              <a:t>PATEL</a:t>
            </a:r>
          </a:p>
        </p:txBody>
      </p:sp>
      <p:sp>
        <p:nvSpPr>
          <p:cNvPr id="112" name="TextBox 111"/>
          <p:cNvSpPr txBox="1"/>
          <p:nvPr/>
        </p:nvSpPr>
        <p:spPr>
          <a:xfrm>
            <a:off x="3322629" y="5989039"/>
            <a:ext cx="1306448" cy="215444"/>
          </a:xfrm>
          <a:prstGeom prst="rect">
            <a:avLst/>
          </a:prstGeom>
          <a:noFill/>
        </p:spPr>
        <p:txBody>
          <a:bodyPr wrap="none" lIns="0" tIns="0" rIns="0" bIns="0" anchor="ctr">
            <a:spAutoFit/>
          </a:bodyPr>
          <a:lstStyle/>
          <a:p>
            <a:pPr algn="l">
              <a:spcAft>
                <a:spcPts val="0"/>
              </a:spcAft>
            </a:pPr>
            <a:r>
              <a:rPr sz="1400" b="1" dirty="0">
                <a:solidFill>
                  <a:srgbClr val="33CCFF"/>
                </a:solidFill>
                <a:latin typeface="Aptos"/>
              </a:rPr>
              <a:t>ID </a:t>
            </a:r>
            <a:r>
              <a:rPr sz="1400" b="1" dirty="0">
                <a:solidFill>
                  <a:srgbClr val="33CCFF"/>
                </a:solidFill>
                <a:latin typeface="Times New Roman" panose="02020603050405020304" pitchFamily="18" charset="0"/>
                <a:cs typeface="Times New Roman" panose="02020603050405020304" pitchFamily="18" charset="0"/>
              </a:rPr>
              <a:t>NO</a:t>
            </a:r>
            <a:r>
              <a:rPr sz="1400" b="1" dirty="0" smtClean="0">
                <a:solidFill>
                  <a:srgbClr val="33CCFF"/>
                </a:solidFill>
                <a:latin typeface="Aptos"/>
              </a:rPr>
              <a:t>.:</a:t>
            </a:r>
            <a:r>
              <a:rPr lang="en-US" sz="1400" b="1" dirty="0" smtClean="0">
                <a:solidFill>
                  <a:srgbClr val="33CCFF"/>
                </a:solidFill>
                <a:latin typeface="Times New Roman" panose="02020603050405020304" pitchFamily="18" charset="0"/>
                <a:cs typeface="Times New Roman" panose="02020603050405020304" pitchFamily="18" charset="0"/>
              </a:rPr>
              <a:t>25EC412</a:t>
            </a:r>
            <a:endParaRPr sz="1400" b="1" dirty="0">
              <a:solidFill>
                <a:srgbClr val="33CCFF"/>
              </a:solidFill>
              <a:latin typeface="Times New Roman" panose="02020603050405020304" pitchFamily="18" charset="0"/>
              <a:cs typeface="Times New Roman" panose="02020603050405020304" pitchFamily="18" charset="0"/>
            </a:endParaRPr>
          </a:p>
        </p:txBody>
      </p:sp>
      <p:sp>
        <p:nvSpPr>
          <p:cNvPr id="113" name="TextBox 112"/>
          <p:cNvSpPr txBox="1"/>
          <p:nvPr/>
        </p:nvSpPr>
        <p:spPr>
          <a:xfrm>
            <a:off x="749807" y="6362564"/>
            <a:ext cx="4514919" cy="230832"/>
          </a:xfrm>
          <a:prstGeom prst="rect">
            <a:avLst/>
          </a:prstGeom>
          <a:noFill/>
        </p:spPr>
        <p:txBody>
          <a:bodyPr wrap="square" lIns="0" tIns="0" rIns="0" bIns="0" anchor="ctr">
            <a:spAutoFit/>
          </a:bodyPr>
          <a:lstStyle/>
          <a:p>
            <a:pPr algn="l">
              <a:spcAft>
                <a:spcPts val="0"/>
              </a:spcAft>
            </a:pPr>
            <a:r>
              <a:rPr sz="1500" b="1" dirty="0">
                <a:solidFill>
                  <a:srgbClr val="00E1FF"/>
                </a:solidFill>
                <a:latin typeface="Aptos"/>
              </a:rPr>
              <a:t>BIRLA VISHVAKARMA </a:t>
            </a:r>
            <a:r>
              <a:rPr sz="1500" b="1" dirty="0">
                <a:solidFill>
                  <a:srgbClr val="00E1FF"/>
                </a:solidFill>
                <a:latin typeface="Times New Roman" panose="02020603050405020304" pitchFamily="18" charset="0"/>
                <a:cs typeface="Times New Roman" panose="02020603050405020304" pitchFamily="18" charset="0"/>
              </a:rPr>
              <a:t>MAHAVIDYALAYA</a:t>
            </a:r>
          </a:p>
        </p:txBody>
      </p:sp>
      <p:sp>
        <p:nvSpPr>
          <p:cNvPr id="117" name="TextBox 116"/>
          <p:cNvSpPr txBox="1"/>
          <p:nvPr/>
        </p:nvSpPr>
        <p:spPr>
          <a:xfrm>
            <a:off x="525467" y="3453384"/>
            <a:ext cx="5069033" cy="2031325"/>
          </a:xfrm>
          <a:prstGeom prst="rect">
            <a:avLst/>
          </a:prstGeom>
          <a:noFill/>
        </p:spPr>
        <p:txBody>
          <a:bodyPr wrap="square" rtlCol="0">
            <a:spAutoFit/>
          </a:bodyPr>
          <a:lstStyle/>
          <a:p>
            <a:r>
              <a:rPr lang="en-US" dirty="0" err="1">
                <a:solidFill>
                  <a:schemeClr val="bg1"/>
                </a:solidFill>
              </a:rPr>
              <a:t>EchoDetective</a:t>
            </a:r>
            <a:r>
              <a:rPr lang="en-US" dirty="0">
                <a:solidFill>
                  <a:schemeClr val="bg1"/>
                </a:solidFill>
              </a:rPr>
              <a:t> is a student C++ project concept focused on exploring sound-related clues, echoes, and patterns.</a:t>
            </a:r>
          </a:p>
          <a:p>
            <a:r>
              <a:rPr lang="en-US" dirty="0">
                <a:solidFill>
                  <a:schemeClr val="bg1"/>
                </a:solidFill>
              </a:rPr>
              <a:t>It uses a simple, investigation-style workflow to organize clues and present results.</a:t>
            </a:r>
          </a:p>
          <a:p>
            <a:r>
              <a:rPr lang="en-US" dirty="0">
                <a:solidFill>
                  <a:schemeClr val="bg1"/>
                </a:solidFill>
              </a:rPr>
              <a:t>The project demonstrates how programming logic can be used to build an interactive experience.</a:t>
            </a:r>
          </a:p>
        </p:txBody>
      </p:sp>
      <p:sp>
        <p:nvSpPr>
          <p:cNvPr id="52" name="Slide Number Placeholder 51"/>
          <p:cNvSpPr>
            <a:spLocks noGrp="1"/>
          </p:cNvSpPr>
          <p:nvPr>
            <p:ph type="sldNum" sz="quarter" idx="12"/>
          </p:nvPr>
        </p:nvSpPr>
        <p:spPr>
          <a:xfrm>
            <a:off x="9681278" y="6383145"/>
            <a:ext cx="2133600" cy="365125"/>
          </a:xfrm>
        </p:spPr>
        <p:txBody>
          <a:bodyPr/>
          <a:lstStyle/>
          <a:p>
            <a:fld id="{C1FF6DA9-008F-8B48-92A6-B652298478BF}" type="slidenum">
              <a:rPr lang="en-US" b="1" smtClean="0">
                <a:solidFill>
                  <a:srgbClr val="FFFF00"/>
                </a:solidFill>
              </a:rPr>
              <a:t>1</a:t>
            </a:fld>
            <a:endParaRPr lang="en-US" b="1" dirty="0">
              <a:solidFill>
                <a:srgbClr val="FFFF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cxnSp>
        <p:nvCxnSpPr>
          <p:cNvPr id="2" name="Connector 1"/>
          <p:cNvCxnSpPr/>
          <p:nvPr/>
        </p:nvCxnSpPr>
        <p:spPr>
          <a:xfrm>
            <a:off x="5989320"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6373368"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757416"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7141464"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525512"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909560"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293608"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677656"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61704"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45752"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829800"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213848"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97896"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981944"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365992"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750040"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2134088" y="164592"/>
            <a:ext cx="0" cy="6510528"/>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52160" y="228600"/>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852160" y="612647"/>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852160" y="996695"/>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852160" y="1380744"/>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852160" y="1764792"/>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52160" y="2148840"/>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52160" y="2532888"/>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852160" y="2916936"/>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852160" y="3300984"/>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852160" y="3685031"/>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852160" y="4069080"/>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852160" y="4453128"/>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852160" y="4837176"/>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852160" y="5221224"/>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852160" y="5605272"/>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852160" y="5989320"/>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0" y="0"/>
            <a:ext cx="68580" cy="6858000"/>
          </a:xfrm>
          <a:prstGeom prst="rect">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Parallelogram 36"/>
          <p:cNvSpPr/>
          <p:nvPr/>
        </p:nvSpPr>
        <p:spPr>
          <a:xfrm>
            <a:off x="0" y="0"/>
            <a:ext cx="1005840" cy="100584"/>
          </a:xfrm>
          <a:prstGeom prst="parallelogram">
            <a:avLst/>
          </a:prstGeom>
          <a:solidFill>
            <a:srgbClr val="00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Parallelogram 37"/>
          <p:cNvSpPr/>
          <p:nvPr/>
        </p:nvSpPr>
        <p:spPr>
          <a:xfrm>
            <a:off x="182880" y="0"/>
            <a:ext cx="1280160" cy="41148"/>
          </a:xfrm>
          <a:prstGeom prst="parallelogram">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51241" y="552940"/>
            <a:ext cx="3624390" cy="477054"/>
          </a:xfrm>
          <a:prstGeom prst="rect">
            <a:avLst/>
          </a:prstGeom>
          <a:noFill/>
        </p:spPr>
        <p:txBody>
          <a:bodyPr wrap="none" lIns="0" tIns="0" rIns="0" bIns="0" anchor="ctr">
            <a:spAutoFit/>
          </a:bodyPr>
          <a:lstStyle/>
          <a:p>
            <a:pPr algn="l">
              <a:spcAft>
                <a:spcPts val="0"/>
              </a:spcAft>
            </a:pPr>
            <a:r>
              <a:rPr lang="en-US" sz="3100" b="1" dirty="0" smtClean="0">
                <a:solidFill>
                  <a:srgbClr val="EFF7FF"/>
                </a:solidFill>
                <a:latin typeface="Aptos Display"/>
              </a:rPr>
              <a:t>Problem Statement</a:t>
            </a:r>
            <a:endParaRPr sz="3100" b="1" dirty="0">
              <a:solidFill>
                <a:srgbClr val="EFF7FF"/>
              </a:solidFill>
              <a:latin typeface="Aptos Display"/>
            </a:endParaRPr>
          </a:p>
        </p:txBody>
      </p:sp>
      <p:sp>
        <p:nvSpPr>
          <p:cNvPr id="45" name="TextBox 44"/>
          <p:cNvSpPr txBox="1"/>
          <p:nvPr/>
        </p:nvSpPr>
        <p:spPr>
          <a:xfrm>
            <a:off x="592075" y="1375055"/>
            <a:ext cx="4469172" cy="230832"/>
          </a:xfrm>
          <a:prstGeom prst="rect">
            <a:avLst/>
          </a:prstGeom>
          <a:noFill/>
        </p:spPr>
        <p:txBody>
          <a:bodyPr wrap="none" lIns="0" tIns="0" rIns="0" bIns="0" anchor="ctr">
            <a:spAutoFit/>
          </a:bodyPr>
          <a:lstStyle/>
          <a:p>
            <a:r>
              <a:rPr lang="en-US" sz="1500" dirty="0">
                <a:solidFill>
                  <a:schemeClr val="accent1">
                    <a:lumMod val="40000"/>
                    <a:lumOff val="60000"/>
                  </a:schemeClr>
                </a:solidFill>
                <a:latin typeface="Times New Roman" panose="02020603050405020304" pitchFamily="18" charset="0"/>
                <a:cs typeface="Times New Roman" panose="02020603050405020304" pitchFamily="18" charset="0"/>
              </a:rPr>
              <a:t>Why do we need a simple way to investigate sound clues?</a:t>
            </a:r>
            <a:endParaRPr sz="1500" b="0" dirty="0">
              <a:solidFill>
                <a:schemeClr val="accent1">
                  <a:lumMod val="40000"/>
                  <a:lumOff val="60000"/>
                </a:schemeClr>
              </a:solidFill>
              <a:latin typeface="Times New Roman" panose="02020603050405020304" pitchFamily="18" charset="0"/>
              <a:cs typeface="Times New Roman" panose="02020603050405020304" pitchFamily="18" charset="0"/>
            </a:endParaRPr>
          </a:p>
        </p:txBody>
      </p:sp>
      <p:sp>
        <p:nvSpPr>
          <p:cNvPr id="46" name="Rounded Rectangle 45"/>
          <p:cNvSpPr/>
          <p:nvPr/>
        </p:nvSpPr>
        <p:spPr>
          <a:xfrm>
            <a:off x="449718" y="2608281"/>
            <a:ext cx="6903720" cy="3246120"/>
          </a:xfrm>
          <a:prstGeom prst="roundRect">
            <a:avLst/>
          </a:prstGeom>
          <a:solidFill>
            <a:srgbClr val="041B3D"/>
          </a:solidFill>
          <a:ln w="12700">
            <a:solidFill>
              <a:srgbClr val="008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23646" y="2953601"/>
            <a:ext cx="6382513" cy="2354491"/>
          </a:xfrm>
          <a:prstGeom prst="rect">
            <a:avLst/>
          </a:prstGeom>
          <a:noFill/>
        </p:spPr>
        <p:txBody>
          <a:bodyPr wrap="square" lIns="0" tIns="0" rIns="0" bIns="0" anchor="t">
            <a:spAutoFit/>
          </a:bodyPr>
          <a:lstStyle/>
          <a:p>
            <a:pPr marL="285750" indent="-285750">
              <a:buFont typeface="Arial" panose="020B0604020202020204" pitchFamily="34" charset="0"/>
              <a:buChar char="•"/>
            </a:pPr>
            <a:r>
              <a:rPr lang="en-US" sz="1700" dirty="0">
                <a:solidFill>
                  <a:schemeClr val="accent6">
                    <a:lumMod val="40000"/>
                    <a:lumOff val="60000"/>
                  </a:schemeClr>
                </a:solidFill>
                <a:latin typeface="Times New Roman" panose="02020603050405020304" pitchFamily="18" charset="0"/>
                <a:cs typeface="Times New Roman" panose="02020603050405020304" pitchFamily="18" charset="0"/>
              </a:rPr>
              <a:t>The challenge: Sound can contain repeated patterns and useful clues, but beginners may find it difficult to represent, organize, and interpret these ideas in a simple program.</a:t>
            </a:r>
          </a:p>
          <a:p>
            <a:pPr marL="285750" indent="-285750">
              <a:buFont typeface="Arial" panose="020B0604020202020204" pitchFamily="34" charset="0"/>
              <a:buChar char="•"/>
            </a:pPr>
            <a:r>
              <a:rPr lang="en-US" sz="1700" dirty="0">
                <a:solidFill>
                  <a:schemeClr val="accent6">
                    <a:lumMod val="40000"/>
                    <a:lumOff val="60000"/>
                  </a:schemeClr>
                </a:solidFill>
                <a:latin typeface="Times New Roman" panose="02020603050405020304" pitchFamily="18" charset="0"/>
                <a:cs typeface="Times New Roman" panose="02020603050405020304" pitchFamily="18" charset="0"/>
              </a:rPr>
              <a:t>Our approach: Develop a beginner-friendly C++ project that applies structured logic to a clue-based investigation workflow.</a:t>
            </a:r>
          </a:p>
          <a:p>
            <a:pPr marL="285750" indent="-285750">
              <a:buFont typeface="Arial" panose="020B0604020202020204" pitchFamily="34" charset="0"/>
              <a:buChar char="•"/>
            </a:pPr>
            <a:r>
              <a:rPr lang="en-US" sz="1700" dirty="0">
                <a:solidFill>
                  <a:schemeClr val="accent6">
                    <a:lumMod val="40000"/>
                    <a:lumOff val="60000"/>
                  </a:schemeClr>
                </a:solidFill>
                <a:latin typeface="Times New Roman" panose="02020603050405020304" pitchFamily="18" charset="0"/>
                <a:cs typeface="Times New Roman" panose="02020603050405020304" pitchFamily="18" charset="0"/>
              </a:rPr>
              <a:t>Design priorities:</a:t>
            </a:r>
          </a:p>
          <a:p>
            <a:pPr marL="285750" indent="-285750">
              <a:buFont typeface="Arial" panose="020B0604020202020204" pitchFamily="34" charset="0"/>
              <a:buChar char="•"/>
            </a:pPr>
            <a:r>
              <a:rPr lang="en-US" sz="1700" dirty="0">
                <a:solidFill>
                  <a:schemeClr val="accent6">
                    <a:lumMod val="40000"/>
                    <a:lumOff val="60000"/>
                  </a:schemeClr>
                </a:solidFill>
                <a:latin typeface="Times New Roman" panose="02020603050405020304" pitchFamily="18" charset="0"/>
                <a:cs typeface="Times New Roman" panose="02020603050405020304" pitchFamily="18" charset="0"/>
              </a:rPr>
              <a:t>Simplicity — easy to understand.</a:t>
            </a:r>
          </a:p>
          <a:p>
            <a:pPr marL="285750" indent="-285750">
              <a:buFont typeface="Arial" panose="020B0604020202020204" pitchFamily="34" charset="0"/>
              <a:buChar char="•"/>
            </a:pPr>
            <a:r>
              <a:rPr lang="en-US" sz="1700" dirty="0">
                <a:solidFill>
                  <a:schemeClr val="accent6">
                    <a:lumMod val="40000"/>
                    <a:lumOff val="60000"/>
                  </a:schemeClr>
                </a:solidFill>
                <a:latin typeface="Times New Roman" panose="02020603050405020304" pitchFamily="18" charset="0"/>
                <a:cs typeface="Times New Roman" panose="02020603050405020304" pitchFamily="18" charset="0"/>
              </a:rPr>
              <a:t>Logic — clear decision-making.</a:t>
            </a:r>
          </a:p>
          <a:p>
            <a:pPr marL="285750" indent="-285750">
              <a:buFont typeface="Arial" panose="020B0604020202020204" pitchFamily="34" charset="0"/>
              <a:buChar char="•"/>
            </a:pPr>
            <a:r>
              <a:rPr lang="en-US" sz="1700" dirty="0">
                <a:solidFill>
                  <a:schemeClr val="accent6">
                    <a:lumMod val="40000"/>
                    <a:lumOff val="60000"/>
                  </a:schemeClr>
                </a:solidFill>
                <a:latin typeface="Times New Roman" panose="02020603050405020304" pitchFamily="18" charset="0"/>
                <a:cs typeface="Times New Roman" panose="02020603050405020304" pitchFamily="18" charset="0"/>
              </a:rPr>
              <a:t>Output — readable results.</a:t>
            </a:r>
          </a:p>
        </p:txBody>
      </p:sp>
      <p:sp>
        <p:nvSpPr>
          <p:cNvPr id="49" name="Rounded Rectangle 48"/>
          <p:cNvSpPr/>
          <p:nvPr/>
        </p:nvSpPr>
        <p:spPr>
          <a:xfrm>
            <a:off x="7882127" y="2395728"/>
            <a:ext cx="3593592" cy="3246120"/>
          </a:xfrm>
          <a:prstGeom prst="roundRect">
            <a:avLst/>
          </a:prstGeom>
          <a:solidFill>
            <a:srgbClr val="041B3D"/>
          </a:solidFill>
          <a:ln w="12700">
            <a:solidFill>
              <a:srgbClr val="008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174736" y="2596896"/>
            <a:ext cx="2971800" cy="292608"/>
          </a:xfrm>
          <a:prstGeom prst="rect">
            <a:avLst/>
          </a:prstGeom>
          <a:noFill/>
        </p:spPr>
        <p:txBody>
          <a:bodyPr wrap="none" lIns="0" tIns="0" rIns="0" bIns="0" anchor="ctr">
            <a:spAutoFit/>
          </a:bodyPr>
          <a:lstStyle/>
          <a:p>
            <a:pPr algn="l">
              <a:spcAft>
                <a:spcPts val="0"/>
              </a:spcAft>
            </a:pPr>
            <a:r>
              <a:rPr sz="900" b="1">
                <a:solidFill>
                  <a:srgbClr val="9EC5E7"/>
                </a:solidFill>
                <a:latin typeface="Consolas"/>
              </a:rPr>
              <a:t>SIGNAL ANALYSIS // VISUAL</a:t>
            </a:r>
          </a:p>
        </p:txBody>
      </p:sp>
      <p:sp>
        <p:nvSpPr>
          <p:cNvPr id="51" name="Oval 50"/>
          <p:cNvSpPr/>
          <p:nvPr/>
        </p:nvSpPr>
        <p:spPr>
          <a:xfrm>
            <a:off x="8645652" y="2976372"/>
            <a:ext cx="2057400" cy="2057400"/>
          </a:xfrm>
          <a:prstGeom prst="ellipse">
            <a:avLst/>
          </a:prstGeom>
          <a:noFill/>
          <a:ln w="12700">
            <a:solidFill>
              <a:srgbClr val="008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8887968" y="3218688"/>
            <a:ext cx="1572768" cy="1572768"/>
          </a:xfrm>
          <a:prstGeom prst="ellipse">
            <a:avLst/>
          </a:prstGeom>
          <a:noFill/>
          <a:ln w="12700">
            <a:solidFill>
              <a:srgbClr val="008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9134856" y="3465576"/>
            <a:ext cx="1078992" cy="1078992"/>
          </a:xfrm>
          <a:prstGeom prst="ellipse">
            <a:avLst/>
          </a:prstGeom>
          <a:noFill/>
          <a:ln w="12700">
            <a:solidFill>
              <a:srgbClr val="00E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390888" y="3721608"/>
            <a:ext cx="566928" cy="566928"/>
          </a:xfrm>
          <a:prstGeom prst="ellipse">
            <a:avLst/>
          </a:prstGeom>
          <a:noFill/>
          <a:ln w="12700">
            <a:solidFill>
              <a:srgbClr val="00E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5" name="Connector 54"/>
          <p:cNvCxnSpPr/>
          <p:nvPr/>
        </p:nvCxnSpPr>
        <p:spPr>
          <a:xfrm>
            <a:off x="8577072" y="4005072"/>
            <a:ext cx="2194560" cy="0"/>
          </a:xfrm>
          <a:prstGeom prst="line">
            <a:avLst/>
          </a:prstGeom>
          <a:ln w="1016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674352" y="2907791"/>
            <a:ext cx="0" cy="2194561"/>
          </a:xfrm>
          <a:prstGeom prst="line">
            <a:avLst/>
          </a:prstGeom>
          <a:ln w="1016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9674352" y="3300984"/>
            <a:ext cx="850392" cy="704088"/>
          </a:xfrm>
          <a:prstGeom prst="line">
            <a:avLst/>
          </a:prstGeom>
          <a:ln w="25400">
            <a:solidFill>
              <a:srgbClr val="00E1FF"/>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10337292" y="3406139"/>
            <a:ext cx="100584" cy="100584"/>
          </a:xfrm>
          <a:prstGeom prst="ellipse">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8938260" y="3707892"/>
            <a:ext cx="100584" cy="100584"/>
          </a:xfrm>
          <a:prstGeom prst="ellipse">
            <a:avLst/>
          </a:prstGeom>
          <a:solidFill>
            <a:srgbClr val="00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9870948" y="4677156"/>
            <a:ext cx="100584" cy="100584"/>
          </a:xfrm>
          <a:prstGeom prst="ellipse">
            <a:avLst/>
          </a:prstGeom>
          <a:solidFill>
            <a:srgbClr val="9B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9075420" y="4366260"/>
            <a:ext cx="100584" cy="100584"/>
          </a:xfrm>
          <a:prstGeom prst="ellipse">
            <a:avLst/>
          </a:prstGeom>
          <a:solidFill>
            <a:srgbClr val="00FF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8229600" y="5074920"/>
            <a:ext cx="2880360" cy="384048"/>
          </a:xfrm>
          <a:prstGeom prst="roundRect">
            <a:avLst/>
          </a:prstGeom>
          <a:solidFill>
            <a:srgbClr val="021026"/>
          </a:solidFill>
          <a:ln w="10160">
            <a:solidFill>
              <a:srgbClr val="008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3" name="Connector 62"/>
          <p:cNvCxnSpPr/>
          <p:nvPr/>
        </p:nvCxnSpPr>
        <p:spPr>
          <a:xfrm flipV="1">
            <a:off x="8339327" y="5253228"/>
            <a:ext cx="120535" cy="13716"/>
          </a:xfrm>
          <a:prstGeom prst="line">
            <a:avLst/>
          </a:prstGeom>
          <a:ln w="1524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459862" y="5223052"/>
            <a:ext cx="120535" cy="30176"/>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80397" y="5223052"/>
            <a:ext cx="120534" cy="54864"/>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700931" y="5209336"/>
            <a:ext cx="120535" cy="68580"/>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821466" y="5209336"/>
            <a:ext cx="120534" cy="126188"/>
          </a:xfrm>
          <a:prstGeom prst="line">
            <a:avLst/>
          </a:prstGeom>
          <a:ln w="1524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942000" y="5244998"/>
            <a:ext cx="120535" cy="90526"/>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9062535" y="5157216"/>
            <a:ext cx="120534" cy="87782"/>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183069" y="5157216"/>
            <a:ext cx="120535" cy="150876"/>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9303604" y="5206593"/>
            <a:ext cx="120534" cy="101499"/>
          </a:xfrm>
          <a:prstGeom prst="line">
            <a:avLst/>
          </a:prstGeom>
          <a:ln w="1524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424138" y="5206593"/>
            <a:ext cx="120535" cy="167335"/>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9544673" y="5234025"/>
            <a:ext cx="120534" cy="139903"/>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9665207" y="5187391"/>
            <a:ext cx="120535" cy="46634"/>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785742" y="5187391"/>
            <a:ext cx="120535" cy="101498"/>
          </a:xfrm>
          <a:prstGeom prst="line">
            <a:avLst/>
          </a:prstGeom>
          <a:ln w="1524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9906277" y="5143500"/>
            <a:ext cx="120534" cy="145389"/>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0026811" y="5143500"/>
            <a:ext cx="120535" cy="172821"/>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0147346" y="5255971"/>
            <a:ext cx="120534" cy="60350"/>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267880" y="5255971"/>
            <a:ext cx="120535" cy="93269"/>
          </a:xfrm>
          <a:prstGeom prst="line">
            <a:avLst/>
          </a:prstGeom>
          <a:ln w="1524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0388415" y="5223052"/>
            <a:ext cx="120534" cy="126188"/>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0508949" y="5223052"/>
            <a:ext cx="120535" cy="38405"/>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0629484" y="5261457"/>
            <a:ext cx="120534" cy="32919"/>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0750018" y="5203850"/>
            <a:ext cx="120535" cy="90526"/>
          </a:xfrm>
          <a:prstGeom prst="line">
            <a:avLst/>
          </a:prstGeom>
          <a:ln w="15240">
            <a:solidFill>
              <a:srgbClr val="0087FF"/>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870553" y="5203850"/>
            <a:ext cx="120535" cy="71323"/>
          </a:xfrm>
          <a:prstGeom prst="line">
            <a:avLst/>
          </a:prstGeom>
          <a:ln w="15240">
            <a:solidFill>
              <a:srgbClr val="00E1FF"/>
            </a:solidFill>
          </a:ln>
        </p:spPr>
        <p:style>
          <a:lnRef idx="2">
            <a:schemeClr val="accent1"/>
          </a:lnRef>
          <a:fillRef idx="0">
            <a:schemeClr val="accent1"/>
          </a:fillRef>
          <a:effectRef idx="1">
            <a:schemeClr val="accent1"/>
          </a:effectRef>
          <a:fontRef idx="minor">
            <a:schemeClr val="tx1"/>
          </a:fontRef>
        </p:style>
      </p:cxnSp>
      <p:sp>
        <p:nvSpPr>
          <p:cNvPr id="42" name="Slide Number Placeholder 41"/>
          <p:cNvSpPr>
            <a:spLocks noGrp="1"/>
          </p:cNvSpPr>
          <p:nvPr>
            <p:ph type="sldNum" sz="quarter" idx="12"/>
          </p:nvPr>
        </p:nvSpPr>
        <p:spPr>
          <a:xfrm>
            <a:off x="9829800" y="6343827"/>
            <a:ext cx="2133600" cy="365125"/>
          </a:xfrm>
        </p:spPr>
        <p:txBody>
          <a:bodyPr/>
          <a:lstStyle/>
          <a:p>
            <a:fld id="{C1FF6DA9-008F-8B48-92A6-B652298478BF}" type="slidenum">
              <a:rPr lang="en-US" b="1" smtClean="0">
                <a:solidFill>
                  <a:srgbClr val="FFFF00"/>
                </a:solidFill>
              </a:rPr>
              <a:t>2</a:t>
            </a:fld>
            <a:endParaRPr lang="en-US" b="1" dirty="0">
              <a:solidFill>
                <a:srgbClr val="FFFF00"/>
              </a:solidFill>
            </a:endParaRPr>
          </a:p>
        </p:txBody>
      </p:sp>
    </p:spTree>
    <p:extLst>
      <p:ext uri="{BB962C8B-B14F-4D97-AF65-F5344CB8AC3E}">
        <p14:creationId xmlns:p14="http://schemas.microsoft.com/office/powerpoint/2010/main" val="41316153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cxnSp>
        <p:nvCxnSpPr>
          <p:cNvPr id="19" name="Connector 18"/>
          <p:cNvCxnSpPr/>
          <p:nvPr/>
        </p:nvCxnSpPr>
        <p:spPr>
          <a:xfrm>
            <a:off x="5852160" y="228600"/>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0" y="0"/>
            <a:ext cx="68580" cy="6858000"/>
          </a:xfrm>
          <a:prstGeom prst="rect">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Parallelogram 36"/>
          <p:cNvSpPr/>
          <p:nvPr/>
        </p:nvSpPr>
        <p:spPr>
          <a:xfrm>
            <a:off x="0" y="0"/>
            <a:ext cx="1005840" cy="100584"/>
          </a:xfrm>
          <a:prstGeom prst="parallelogram">
            <a:avLst/>
          </a:prstGeom>
          <a:solidFill>
            <a:srgbClr val="00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Parallelogram 37"/>
          <p:cNvSpPr/>
          <p:nvPr/>
        </p:nvSpPr>
        <p:spPr>
          <a:xfrm>
            <a:off x="182880" y="0"/>
            <a:ext cx="1280160" cy="41148"/>
          </a:xfrm>
          <a:prstGeom prst="parallelogram">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835400" y="578273"/>
            <a:ext cx="4682744" cy="400110"/>
          </a:xfrm>
          <a:prstGeom prst="rect">
            <a:avLst/>
          </a:prstGeom>
          <a:noFill/>
        </p:spPr>
        <p:txBody>
          <a:bodyPr wrap="square" rtlCol="0">
            <a:spAutoFit/>
          </a:bodyPr>
          <a:lstStyle/>
          <a:p>
            <a:pPr algn="ctr"/>
            <a:r>
              <a:rPr lang="en-US" sz="2000" dirty="0" smtClean="0">
                <a:solidFill>
                  <a:schemeClr val="bg1"/>
                </a:solidFill>
                <a:latin typeface="Times New Roman" panose="02020603050405020304" pitchFamily="18" charset="0"/>
                <a:cs typeface="Times New Roman" panose="02020603050405020304" pitchFamily="18" charset="0"/>
              </a:rPr>
              <a:t>TECHNOLOGY USED</a:t>
            </a:r>
            <a:endParaRPr lang="en-IN" sz="2000" dirty="0">
              <a:solidFill>
                <a:schemeClr val="bg1"/>
              </a:solidFill>
              <a:latin typeface="Times New Roman" panose="02020603050405020304" pitchFamily="18" charset="0"/>
              <a:cs typeface="Times New Roman" panose="02020603050405020304" pitchFamily="18" charset="0"/>
            </a:endParaRPr>
          </a:p>
        </p:txBody>
      </p:sp>
      <p:graphicFrame>
        <p:nvGraphicFramePr>
          <p:cNvPr id="41" name="Table 40"/>
          <p:cNvGraphicFramePr>
            <a:graphicFrameLocks noGrp="1"/>
          </p:cNvGraphicFramePr>
          <p:nvPr>
            <p:extLst>
              <p:ext uri="{D42A27DB-BD31-4B8C-83A1-F6EECF244321}">
                <p14:modId xmlns:p14="http://schemas.microsoft.com/office/powerpoint/2010/main" val="3540669688"/>
              </p:ext>
            </p:extLst>
          </p:nvPr>
        </p:nvGraphicFramePr>
        <p:xfrm>
          <a:off x="2112772" y="1594392"/>
          <a:ext cx="8128000" cy="2671235"/>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637570373"/>
                    </a:ext>
                  </a:extLst>
                </a:gridCol>
                <a:gridCol w="4064000">
                  <a:extLst>
                    <a:ext uri="{9D8B030D-6E8A-4147-A177-3AD203B41FA5}">
                      <a16:colId xmlns:a16="http://schemas.microsoft.com/office/drawing/2014/main" val="272789851"/>
                    </a:ext>
                  </a:extLst>
                </a:gridCol>
              </a:tblGrid>
              <a:tr h="534247">
                <a:tc>
                  <a:txBody>
                    <a:bodyPr/>
                    <a:lstStyle/>
                    <a:p>
                      <a:pPr algn="ctr"/>
                      <a:r>
                        <a:rPr lang="en-US" dirty="0" smtClean="0"/>
                        <a:t>Technology</a:t>
                      </a:r>
                      <a:endParaRPr lang="en-IN" dirty="0"/>
                    </a:p>
                  </a:txBody>
                  <a:tcPr/>
                </a:tc>
                <a:tc>
                  <a:txBody>
                    <a:bodyPr/>
                    <a:lstStyle/>
                    <a:p>
                      <a:pPr algn="ctr"/>
                      <a:r>
                        <a:rPr lang="en-US" dirty="0" smtClean="0"/>
                        <a:t>Purpose</a:t>
                      </a:r>
                      <a:endParaRPr lang="en-IN" dirty="0"/>
                    </a:p>
                  </a:txBody>
                  <a:tcPr/>
                </a:tc>
                <a:extLst>
                  <a:ext uri="{0D108BD9-81ED-4DB2-BD59-A6C34878D82A}">
                    <a16:rowId xmlns:a16="http://schemas.microsoft.com/office/drawing/2014/main" val="2032276561"/>
                  </a:ext>
                </a:extLst>
              </a:tr>
              <a:tr h="534247">
                <a:tc>
                  <a:txBody>
                    <a:bodyPr/>
                    <a:lstStyle/>
                    <a:p>
                      <a:pPr algn="ctr"/>
                      <a:r>
                        <a:rPr lang="en-US" dirty="0" smtClean="0"/>
                        <a:t>C++</a:t>
                      </a:r>
                      <a:endParaRPr lang="en-IN" dirty="0"/>
                    </a:p>
                  </a:txBody>
                  <a:tcPr/>
                </a:tc>
                <a:tc>
                  <a:txBody>
                    <a:bodyPr/>
                    <a:lstStyle/>
                    <a:p>
                      <a:pPr algn="ctr"/>
                      <a:r>
                        <a:rPr lang="en-US" dirty="0" smtClean="0"/>
                        <a:t>Core programming language</a:t>
                      </a:r>
                      <a:endParaRPr lang="en-IN" dirty="0"/>
                    </a:p>
                  </a:txBody>
                  <a:tcPr/>
                </a:tc>
                <a:extLst>
                  <a:ext uri="{0D108BD9-81ED-4DB2-BD59-A6C34878D82A}">
                    <a16:rowId xmlns:a16="http://schemas.microsoft.com/office/drawing/2014/main" val="3023044523"/>
                  </a:ext>
                </a:extLst>
              </a:tr>
              <a:tr h="534247">
                <a:tc>
                  <a:txBody>
                    <a:bodyPr/>
                    <a:lstStyle/>
                    <a:p>
                      <a:pPr algn="ctr"/>
                      <a:r>
                        <a:rPr lang="en-US" dirty="0" smtClean="0"/>
                        <a:t>Visual Studio Code</a:t>
                      </a:r>
                      <a:endParaRPr lang="en-IN" dirty="0"/>
                    </a:p>
                  </a:txBody>
                  <a:tcPr/>
                </a:tc>
                <a:tc>
                  <a:txBody>
                    <a:bodyPr/>
                    <a:lstStyle/>
                    <a:p>
                      <a:pPr algn="ctr"/>
                      <a:r>
                        <a:rPr lang="en-US" dirty="0" smtClean="0"/>
                        <a:t>Code editing and development</a:t>
                      </a:r>
                      <a:endParaRPr lang="en-IN" dirty="0"/>
                    </a:p>
                  </a:txBody>
                  <a:tcPr/>
                </a:tc>
                <a:extLst>
                  <a:ext uri="{0D108BD9-81ED-4DB2-BD59-A6C34878D82A}">
                    <a16:rowId xmlns:a16="http://schemas.microsoft.com/office/drawing/2014/main" val="1208950618"/>
                  </a:ext>
                </a:extLst>
              </a:tr>
              <a:tr h="534247">
                <a:tc>
                  <a:txBody>
                    <a:bodyPr/>
                    <a:lstStyle/>
                    <a:p>
                      <a:pPr algn="ctr"/>
                      <a:r>
                        <a:rPr lang="en-US" dirty="0" smtClean="0"/>
                        <a:t>C++ Standard Library</a:t>
                      </a:r>
                      <a:endParaRPr lang="en-IN" dirty="0"/>
                    </a:p>
                  </a:txBody>
                  <a:tcPr/>
                </a:tc>
                <a:tc>
                  <a:txBody>
                    <a:bodyPr/>
                    <a:lstStyle/>
                    <a:p>
                      <a:pPr algn="ctr"/>
                      <a:r>
                        <a:rPr lang="en-US" dirty="0" smtClean="0"/>
                        <a:t>Input/output and basic utilities</a:t>
                      </a:r>
                      <a:endParaRPr lang="en-IN" dirty="0"/>
                    </a:p>
                  </a:txBody>
                  <a:tcPr/>
                </a:tc>
                <a:extLst>
                  <a:ext uri="{0D108BD9-81ED-4DB2-BD59-A6C34878D82A}">
                    <a16:rowId xmlns:a16="http://schemas.microsoft.com/office/drawing/2014/main" val="1551866184"/>
                  </a:ext>
                </a:extLst>
              </a:tr>
              <a:tr h="534247">
                <a:tc>
                  <a:txBody>
                    <a:bodyPr/>
                    <a:lstStyle/>
                    <a:p>
                      <a:pPr algn="ctr"/>
                      <a:r>
                        <a:rPr lang="en-US" dirty="0" smtClean="0"/>
                        <a:t>Console interface</a:t>
                      </a:r>
                      <a:endParaRPr lang="en-IN" dirty="0"/>
                    </a:p>
                  </a:txBody>
                  <a:tcPr/>
                </a:tc>
                <a:tc>
                  <a:txBody>
                    <a:bodyPr/>
                    <a:lstStyle/>
                    <a:p>
                      <a:pPr algn="ctr"/>
                      <a:r>
                        <a:rPr lang="en-US" dirty="0" smtClean="0"/>
                        <a:t>User input and result </a:t>
                      </a:r>
                      <a:r>
                        <a:rPr lang="en-US" dirty="0" err="1" smtClean="0"/>
                        <a:t>displaay</a:t>
                      </a:r>
                      <a:endParaRPr lang="en-IN" dirty="0"/>
                    </a:p>
                  </a:txBody>
                  <a:tcPr/>
                </a:tc>
                <a:extLst>
                  <a:ext uri="{0D108BD9-81ED-4DB2-BD59-A6C34878D82A}">
                    <a16:rowId xmlns:a16="http://schemas.microsoft.com/office/drawing/2014/main" val="1647464507"/>
                  </a:ext>
                </a:extLst>
              </a:tr>
            </a:tbl>
          </a:graphicData>
        </a:graphic>
      </p:graphicFrame>
      <p:sp>
        <p:nvSpPr>
          <p:cNvPr id="42" name="TextBox 41"/>
          <p:cNvSpPr txBox="1"/>
          <p:nvPr/>
        </p:nvSpPr>
        <p:spPr>
          <a:xfrm>
            <a:off x="1005840" y="5046132"/>
            <a:ext cx="10439400" cy="369332"/>
          </a:xfrm>
          <a:prstGeom prst="rect">
            <a:avLst/>
          </a:prstGeom>
          <a:noFill/>
        </p:spPr>
        <p:txBody>
          <a:bodyPr wrap="square" rtlCol="0">
            <a:spAutoFit/>
          </a:bodyPr>
          <a:lstStyle/>
          <a:p>
            <a:pPr algn="ctr"/>
            <a:r>
              <a:rPr lang="en-US" dirty="0">
                <a:solidFill>
                  <a:srgbClr val="FFFF00"/>
                </a:solidFill>
              </a:rPr>
              <a:t>Variables, data types, conditional statements, loops, functions, and input/output streams.</a:t>
            </a:r>
            <a:endParaRPr lang="en-IN" dirty="0">
              <a:solidFill>
                <a:srgbClr val="FFFF00"/>
              </a:solidFill>
            </a:endParaRPr>
          </a:p>
        </p:txBody>
      </p:sp>
      <p:sp>
        <p:nvSpPr>
          <p:cNvPr id="6" name="Slide Number Placeholder 5"/>
          <p:cNvSpPr>
            <a:spLocks noGrp="1"/>
          </p:cNvSpPr>
          <p:nvPr>
            <p:ph type="sldNum" sz="quarter" idx="12"/>
          </p:nvPr>
        </p:nvSpPr>
        <p:spPr>
          <a:xfrm>
            <a:off x="9725891" y="6248501"/>
            <a:ext cx="2133600" cy="365125"/>
          </a:xfrm>
        </p:spPr>
        <p:txBody>
          <a:bodyPr/>
          <a:lstStyle/>
          <a:p>
            <a:fld id="{C1FF6DA9-008F-8B48-92A6-B652298478BF}" type="slidenum">
              <a:rPr lang="en-US" b="1" smtClean="0">
                <a:solidFill>
                  <a:srgbClr val="FFFF00"/>
                </a:solidFill>
              </a:rPr>
              <a:t>3</a:t>
            </a:fld>
            <a:endParaRPr lang="en-US" b="1">
              <a:solidFill>
                <a:srgbClr val="FFFF00"/>
              </a:solidFill>
            </a:endParaRPr>
          </a:p>
        </p:txBody>
      </p:sp>
    </p:spTree>
    <p:extLst>
      <p:ext uri="{BB962C8B-B14F-4D97-AF65-F5344CB8AC3E}">
        <p14:creationId xmlns:p14="http://schemas.microsoft.com/office/powerpoint/2010/main" val="32370105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cxnSp>
        <p:nvCxnSpPr>
          <p:cNvPr id="19" name="Connector 18"/>
          <p:cNvCxnSpPr/>
          <p:nvPr/>
        </p:nvCxnSpPr>
        <p:spPr>
          <a:xfrm>
            <a:off x="5852160" y="228600"/>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0" y="0"/>
            <a:ext cx="68580" cy="6858000"/>
          </a:xfrm>
          <a:prstGeom prst="rect">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Parallelogram 36"/>
          <p:cNvSpPr/>
          <p:nvPr/>
        </p:nvSpPr>
        <p:spPr>
          <a:xfrm>
            <a:off x="0" y="0"/>
            <a:ext cx="1005840" cy="100584"/>
          </a:xfrm>
          <a:prstGeom prst="parallelogram">
            <a:avLst/>
          </a:prstGeom>
          <a:solidFill>
            <a:srgbClr val="00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Parallelogram 37"/>
          <p:cNvSpPr/>
          <p:nvPr/>
        </p:nvSpPr>
        <p:spPr>
          <a:xfrm>
            <a:off x="182880" y="0"/>
            <a:ext cx="1280160" cy="41148"/>
          </a:xfrm>
          <a:prstGeom prst="parallelogram">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14984" y="228600"/>
            <a:ext cx="10477500" cy="2308324"/>
          </a:xfrm>
          <a:prstGeom prst="rect">
            <a:avLst/>
          </a:prstGeom>
          <a:noFill/>
        </p:spPr>
        <p:txBody>
          <a:bodyPr wrap="square" rtlCol="0">
            <a:spAutoFit/>
          </a:bodyPr>
          <a:lstStyle/>
          <a:p>
            <a:r>
              <a:rPr lang="en-US" b="1" dirty="0" err="1">
                <a:solidFill>
                  <a:srgbClr val="00B0F0"/>
                </a:solidFill>
              </a:rPr>
              <a:t>EchoDetective</a:t>
            </a:r>
            <a:r>
              <a:rPr lang="en-US" b="1" dirty="0">
                <a:solidFill>
                  <a:srgbClr val="00B0F0"/>
                </a:solidFill>
              </a:rPr>
              <a:t> — Project </a:t>
            </a:r>
            <a:r>
              <a:rPr lang="en-US" b="1" dirty="0" smtClean="0">
                <a:solidFill>
                  <a:srgbClr val="00B0F0"/>
                </a:solidFill>
              </a:rPr>
              <a:t>Overview</a:t>
            </a:r>
          </a:p>
          <a:p>
            <a:endParaRPr lang="en-US" dirty="0">
              <a:solidFill>
                <a:schemeClr val="bg1"/>
              </a:solidFill>
            </a:endParaRPr>
          </a:p>
          <a:p>
            <a:pPr marL="285750" indent="-285750">
              <a:buFont typeface="Wingdings" panose="05000000000000000000" pitchFamily="2" charset="2"/>
              <a:buChar char="§"/>
            </a:pPr>
            <a:r>
              <a:rPr lang="en-US" dirty="0">
                <a:solidFill>
                  <a:srgbClr val="FFFF00"/>
                </a:solidFill>
              </a:rPr>
              <a:t>What is </a:t>
            </a:r>
            <a:r>
              <a:rPr lang="en-US" dirty="0" err="1">
                <a:solidFill>
                  <a:srgbClr val="FFFF00"/>
                </a:solidFill>
              </a:rPr>
              <a:t>EchoDetective</a:t>
            </a:r>
            <a:r>
              <a:rPr lang="en-US" dirty="0" smtClean="0">
                <a:solidFill>
                  <a:srgbClr val="FFFF00"/>
                </a:solidFill>
              </a:rPr>
              <a:t>?</a:t>
            </a:r>
          </a:p>
          <a:p>
            <a:endParaRPr lang="en-US" dirty="0">
              <a:solidFill>
                <a:schemeClr val="bg1"/>
              </a:solidFill>
            </a:endParaRPr>
          </a:p>
          <a:p>
            <a:pPr marL="285750" indent="-285750">
              <a:buFont typeface="Wingdings" panose="05000000000000000000" pitchFamily="2" charset="2"/>
              <a:buChar char="ü"/>
            </a:pPr>
            <a:r>
              <a:rPr lang="en-US" dirty="0" smtClean="0">
                <a:solidFill>
                  <a:schemeClr val="bg1"/>
                </a:solidFill>
              </a:rPr>
              <a:t>Echo Detective </a:t>
            </a:r>
            <a:r>
              <a:rPr lang="en-US" dirty="0">
                <a:solidFill>
                  <a:schemeClr val="bg1"/>
                </a:solidFill>
              </a:rPr>
              <a:t>is designed as an interactive investigation program in which the user provides information or clues, the program processes the input using predefined logic, and the results are displayed on the screen. The detective-style approach makes the project a practical demonstration of problem-solving and modular programming in C</a:t>
            </a:r>
            <a:r>
              <a:rPr lang="en-US" dirty="0" smtClean="0">
                <a:solidFill>
                  <a:schemeClr val="bg1"/>
                </a:solidFill>
              </a:rPr>
              <a:t>++.</a:t>
            </a:r>
            <a:endParaRPr lang="en-US" dirty="0">
              <a:solidFill>
                <a:schemeClr val="bg1"/>
              </a:solidFill>
            </a:endParaRPr>
          </a:p>
        </p:txBody>
      </p:sp>
      <p:pic>
        <p:nvPicPr>
          <p:cNvPr id="4" name="Picture 3"/>
          <p:cNvPicPr>
            <a:picLocks noChangeAspect="1"/>
          </p:cNvPicPr>
          <p:nvPr/>
        </p:nvPicPr>
        <p:blipFill>
          <a:blip r:embed="rId2"/>
          <a:stretch>
            <a:fillRect/>
          </a:stretch>
        </p:blipFill>
        <p:spPr>
          <a:xfrm>
            <a:off x="1005840" y="2536924"/>
            <a:ext cx="10477500" cy="391874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9" name="Slide Number Placeholder 8"/>
          <p:cNvSpPr>
            <a:spLocks noGrp="1"/>
          </p:cNvSpPr>
          <p:nvPr>
            <p:ph type="sldNum" sz="quarter" idx="12"/>
          </p:nvPr>
        </p:nvSpPr>
        <p:spPr>
          <a:xfrm>
            <a:off x="9698182" y="6356350"/>
            <a:ext cx="2133600" cy="365125"/>
          </a:xfrm>
        </p:spPr>
        <p:txBody>
          <a:bodyPr/>
          <a:lstStyle/>
          <a:p>
            <a:fld id="{C1FF6DA9-008F-8B48-92A6-B652298478BF}" type="slidenum">
              <a:rPr lang="en-US" b="1" smtClean="0">
                <a:solidFill>
                  <a:srgbClr val="FFFF00"/>
                </a:solidFill>
              </a:rPr>
              <a:t>4</a:t>
            </a:fld>
            <a:endParaRPr lang="en-US" b="1">
              <a:solidFill>
                <a:srgbClr val="FFFF00"/>
              </a:solidFill>
            </a:endParaRPr>
          </a:p>
        </p:txBody>
      </p:sp>
    </p:spTree>
    <p:extLst>
      <p:ext uri="{BB962C8B-B14F-4D97-AF65-F5344CB8AC3E}">
        <p14:creationId xmlns:p14="http://schemas.microsoft.com/office/powerpoint/2010/main" val="41711983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cxnSp>
        <p:nvCxnSpPr>
          <p:cNvPr id="19" name="Connector 18"/>
          <p:cNvCxnSpPr/>
          <p:nvPr/>
        </p:nvCxnSpPr>
        <p:spPr>
          <a:xfrm>
            <a:off x="5852160" y="228600"/>
            <a:ext cx="6144768" cy="0"/>
          </a:xfrm>
          <a:prstGeom prst="line">
            <a:avLst/>
          </a:prstGeom>
          <a:ln w="5715">
            <a:solidFill>
              <a:srgbClr val="0C345E"/>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0" y="0"/>
            <a:ext cx="68580" cy="6858000"/>
          </a:xfrm>
          <a:prstGeom prst="rect">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Parallelogram 36"/>
          <p:cNvSpPr/>
          <p:nvPr/>
        </p:nvSpPr>
        <p:spPr>
          <a:xfrm>
            <a:off x="0" y="0"/>
            <a:ext cx="1005840" cy="100584"/>
          </a:xfrm>
          <a:prstGeom prst="parallelogram">
            <a:avLst/>
          </a:prstGeom>
          <a:solidFill>
            <a:srgbClr val="008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Parallelogram 37"/>
          <p:cNvSpPr/>
          <p:nvPr/>
        </p:nvSpPr>
        <p:spPr>
          <a:xfrm>
            <a:off x="182880" y="0"/>
            <a:ext cx="1280160" cy="41148"/>
          </a:xfrm>
          <a:prstGeom prst="parallelogram">
            <a:avLst/>
          </a:prstGeom>
          <a:solidFill>
            <a:srgbClr val="00E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889000" y="525977"/>
            <a:ext cx="9842500" cy="5632311"/>
          </a:xfrm>
          <a:prstGeom prst="rect">
            <a:avLst/>
          </a:prstGeom>
          <a:noFill/>
        </p:spPr>
        <p:txBody>
          <a:bodyPr wrap="square" rtlCol="0">
            <a:spAutoFit/>
          </a:bodyPr>
          <a:lstStyle/>
          <a:p>
            <a:pPr algn="ctr"/>
            <a:r>
              <a:rPr lang="en-US" b="1" dirty="0">
                <a:solidFill>
                  <a:srgbClr val="00B0F0"/>
                </a:solidFill>
              </a:rPr>
              <a:t>Main Features of </a:t>
            </a:r>
            <a:r>
              <a:rPr lang="en-US" b="1" dirty="0" err="1">
                <a:solidFill>
                  <a:srgbClr val="00B0F0"/>
                </a:solidFill>
              </a:rPr>
              <a:t>EchoDetective</a:t>
            </a:r>
            <a:endParaRPr lang="en-US" b="1" dirty="0">
              <a:solidFill>
                <a:srgbClr val="00B0F0"/>
              </a:solidFill>
            </a:endParaRPr>
          </a:p>
          <a:p>
            <a:r>
              <a:rPr lang="en-US" dirty="0">
                <a:solidFill>
                  <a:srgbClr val="FFFF00"/>
                </a:solidFill>
              </a:rPr>
              <a:t>1. Interactive User Interface</a:t>
            </a:r>
          </a:p>
          <a:p>
            <a:pPr marL="285750" indent="-285750">
              <a:buFont typeface="Arial" panose="020B0604020202020204" pitchFamily="34" charset="0"/>
              <a:buChar char="•"/>
            </a:pPr>
            <a:r>
              <a:rPr lang="en-US" dirty="0">
                <a:solidFill>
                  <a:schemeClr val="bg1"/>
                </a:solidFill>
              </a:rPr>
              <a:t>The program allows users to interact through a menu or input prompts. Users select an operation, provide the required information, and receive a response without needing to understand the internal code.</a:t>
            </a:r>
          </a:p>
          <a:p>
            <a:r>
              <a:rPr lang="en-US" dirty="0">
                <a:solidFill>
                  <a:srgbClr val="FFFF00"/>
                </a:solidFill>
              </a:rPr>
              <a:t>2. Clue or Information Processing</a:t>
            </a:r>
          </a:p>
          <a:p>
            <a:pPr marL="285750" indent="-285750">
              <a:buFont typeface="Arial" panose="020B0604020202020204" pitchFamily="34" charset="0"/>
              <a:buChar char="•"/>
            </a:pPr>
            <a:r>
              <a:rPr lang="en-US" dirty="0">
                <a:solidFill>
                  <a:schemeClr val="bg1"/>
                </a:solidFill>
              </a:rPr>
              <a:t>The program accepts the investigation data and processes it according to the logic implemented in C++. This is the stage where the input is prepared for further checks or analysis</a:t>
            </a:r>
            <a:r>
              <a:rPr lang="en-US" dirty="0" smtClean="0">
                <a:solidFill>
                  <a:schemeClr val="bg1"/>
                </a:solidFill>
              </a:rPr>
              <a:t>.</a:t>
            </a:r>
            <a:endParaRPr lang="en-US" dirty="0">
              <a:solidFill>
                <a:schemeClr val="bg1"/>
              </a:solidFill>
            </a:endParaRPr>
          </a:p>
          <a:p>
            <a:r>
              <a:rPr lang="en-US" dirty="0">
                <a:solidFill>
                  <a:srgbClr val="FFFF00"/>
                </a:solidFill>
              </a:rPr>
              <a:t>3. Rule-Based Analysis</a:t>
            </a:r>
          </a:p>
          <a:p>
            <a:pPr marL="285750" indent="-285750">
              <a:buFont typeface="Arial" panose="020B0604020202020204" pitchFamily="34" charset="0"/>
              <a:buChar char="•"/>
            </a:pPr>
            <a:r>
              <a:rPr lang="en-US" dirty="0">
                <a:solidFill>
                  <a:schemeClr val="bg1"/>
                </a:solidFill>
              </a:rPr>
              <a:t>Conditional statements and programmed rules determine which result or response should be produced. For example, the program may compare an input against a known condition and select the corresponding output.</a:t>
            </a:r>
          </a:p>
          <a:p>
            <a:r>
              <a:rPr lang="en-US" dirty="0">
                <a:solidFill>
                  <a:srgbClr val="FFFF00"/>
                </a:solidFill>
              </a:rPr>
              <a:t>4. Result Display and Feedback</a:t>
            </a:r>
          </a:p>
          <a:p>
            <a:pPr marL="285750" indent="-285750">
              <a:buFont typeface="Arial" panose="020B0604020202020204" pitchFamily="34" charset="0"/>
              <a:buChar char="•"/>
            </a:pPr>
            <a:r>
              <a:rPr lang="en-US" dirty="0">
                <a:solidFill>
                  <a:schemeClr val="bg1"/>
                </a:solidFill>
              </a:rPr>
              <a:t>After processing, the program displays the outcome or a useful message. Clear feedback helps the user understand what happened and whether another action is needed.</a:t>
            </a:r>
          </a:p>
          <a:p>
            <a:r>
              <a:rPr lang="en-US" dirty="0">
                <a:solidFill>
                  <a:srgbClr val="FFFF00"/>
                </a:solidFill>
              </a:rPr>
              <a:t>5. Modular Program Structure</a:t>
            </a:r>
          </a:p>
          <a:p>
            <a:pPr marL="285750" indent="-285750">
              <a:buFont typeface="Arial" panose="020B0604020202020204" pitchFamily="34" charset="0"/>
              <a:buChar char="•"/>
            </a:pPr>
            <a:r>
              <a:rPr lang="en-US" dirty="0">
                <a:solidFill>
                  <a:schemeClr val="bg1"/>
                </a:solidFill>
              </a:rPr>
              <a:t>Dividing the program into separate functions or modules makes it easier to read, test, debug, and extend. Each function can handle a specific responsibility rather than putting all the logic in one large block.</a:t>
            </a:r>
          </a:p>
          <a:p>
            <a:endParaRPr lang="en-IN" dirty="0"/>
          </a:p>
        </p:txBody>
      </p:sp>
      <p:sp>
        <p:nvSpPr>
          <p:cNvPr id="8" name="Slide Number Placeholder 7"/>
          <p:cNvSpPr>
            <a:spLocks noGrp="1"/>
          </p:cNvSpPr>
          <p:nvPr>
            <p:ph type="sldNum" sz="quarter" idx="12"/>
          </p:nvPr>
        </p:nvSpPr>
        <p:spPr>
          <a:xfrm>
            <a:off x="9664700" y="6218556"/>
            <a:ext cx="2133600" cy="365125"/>
          </a:xfrm>
        </p:spPr>
        <p:txBody>
          <a:bodyPr/>
          <a:lstStyle/>
          <a:p>
            <a:fld id="{C1FF6DA9-008F-8B48-92A6-B652298478BF}" type="slidenum">
              <a:rPr lang="en-US" b="1" smtClean="0">
                <a:solidFill>
                  <a:srgbClr val="FFFF00"/>
                </a:solidFill>
              </a:rPr>
              <a:t>5</a:t>
            </a:fld>
            <a:endParaRPr lang="en-US" b="1">
              <a:solidFill>
                <a:srgbClr val="FFFF00"/>
              </a:solidFill>
            </a:endParaRPr>
          </a:p>
        </p:txBody>
      </p:sp>
    </p:spTree>
    <p:extLst>
      <p:ext uri="{BB962C8B-B14F-4D97-AF65-F5344CB8AC3E}">
        <p14:creationId xmlns:p14="http://schemas.microsoft.com/office/powerpoint/2010/main" val="15163935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881360" cy="457200"/>
          </a:xfrm>
          <a:prstGeom prst="rect">
            <a:avLst/>
          </a:prstGeom>
          <a:noFill/>
          <a:ln/>
        </p:spPr>
        <p:txBody>
          <a:bodyPr wrap="square" lIns="0" tIns="0" rIns="0" bIns="0" rtlCol="0" anchor="ctr"/>
          <a:lstStyle/>
          <a:p>
            <a:pPr marL="0" indent="0">
              <a:buNone/>
            </a:pPr>
            <a:r>
              <a:rPr lang="en-US" sz="2400" b="1" dirty="0">
                <a:solidFill>
                  <a:srgbClr val="5BC8F0"/>
                </a:solidFill>
                <a:latin typeface="Calibri" pitchFamily="34" charset="0"/>
                <a:ea typeface="Calibri" pitchFamily="34" charset="-122"/>
                <a:cs typeface="Calibri" pitchFamily="34" charset="-120"/>
              </a:rPr>
              <a:t>SYSTEM MODULES</a:t>
            </a:r>
            <a:endParaRPr lang="en-US" sz="2400" dirty="0"/>
          </a:p>
        </p:txBody>
      </p:sp>
      <p:sp>
        <p:nvSpPr>
          <p:cNvPr id="3" name="Text 1"/>
          <p:cNvSpPr txBox="1"/>
          <p:nvPr/>
        </p:nvSpPr>
        <p:spPr>
          <a:xfrm>
            <a:off x="640080" y="822960"/>
            <a:ext cx="10881360" cy="320040"/>
          </a:xfrm>
          <a:prstGeom prst="rect">
            <a:avLst/>
          </a:prstGeom>
          <a:noFill/>
          <a:ln/>
        </p:spPr>
        <p:txBody>
          <a:bodyPr wrap="square" lIns="0" tIns="0" rIns="0" bIns="0" rtlCol="0" anchor="ctr"/>
          <a:lstStyle/>
          <a:p>
            <a:pPr marL="0" indent="0">
              <a:buNone/>
            </a:pPr>
            <a:r>
              <a:rPr lang="en-US" sz="1300" dirty="0">
                <a:solidFill>
                  <a:srgbClr val="C9D3E0"/>
                </a:solidFill>
                <a:latin typeface="Calibri" pitchFamily="34" charset="0"/>
                <a:ea typeface="Calibri" pitchFamily="34" charset="-122"/>
                <a:cs typeface="Calibri" pitchFamily="34" charset="-120"/>
              </a:rPr>
              <a:t>EchoDetective — C++17 Echo Detection Simulator</a:t>
            </a:r>
            <a:endParaRPr lang="en-US" sz="1300" dirty="0"/>
          </a:p>
        </p:txBody>
      </p:sp>
      <p:sp>
        <p:nvSpPr>
          <p:cNvPr id="4" name="Shape 2"/>
          <p:cNvSpPr/>
          <p:nvPr/>
        </p:nvSpPr>
        <p:spPr>
          <a:xfrm>
            <a:off x="640080" y="1463040"/>
            <a:ext cx="594360" cy="594360"/>
          </a:xfrm>
          <a:prstGeom prst="roundRect">
            <a:avLst>
              <a:gd name="adj" fmla="val 12308"/>
            </a:avLst>
          </a:prstGeom>
          <a:solidFill>
            <a:srgbClr val="15304A"/>
          </a:solidFill>
          <a:ln w="12700">
            <a:solidFill>
              <a:srgbClr val="15304A"/>
            </a:solidFill>
            <a:prstDash val="solid"/>
          </a:ln>
        </p:spPr>
      </p:sp>
      <p:sp>
        <p:nvSpPr>
          <p:cNvPr id="5" name="Text 3"/>
          <p:cNvSpPr txBox="1"/>
          <p:nvPr/>
        </p:nvSpPr>
        <p:spPr>
          <a:xfrm>
            <a:off x="640080" y="1463040"/>
            <a:ext cx="594360" cy="594360"/>
          </a:xfrm>
          <a:prstGeom prst="rect">
            <a:avLst/>
          </a:prstGeom>
          <a:noFill/>
          <a:ln/>
        </p:spPr>
        <p:txBody>
          <a:bodyPr wrap="square" lIns="0" tIns="0" rIns="0" bIns="0" rtlCol="0" anchor="ctr"/>
          <a:lstStyle/>
          <a:p>
            <a:pPr marL="0" indent="0" algn="ctr">
              <a:buNone/>
            </a:pPr>
            <a:r>
              <a:rPr lang="en-US" sz="1600" b="1" dirty="0">
                <a:solidFill>
                  <a:srgbClr val="5BC8F0"/>
                </a:solidFill>
                <a:latin typeface="Calibri" pitchFamily="34" charset="0"/>
                <a:ea typeface="Calibri" pitchFamily="34" charset="-122"/>
                <a:cs typeface="Calibri" pitchFamily="34" charset="-120"/>
              </a:rPr>
              <a:t>01</a:t>
            </a:r>
            <a:endParaRPr lang="en-US" sz="1600" dirty="0"/>
          </a:p>
        </p:txBody>
      </p:sp>
      <p:sp>
        <p:nvSpPr>
          <p:cNvPr id="6" name="Text 4"/>
          <p:cNvSpPr txBox="1"/>
          <p:nvPr/>
        </p:nvSpPr>
        <p:spPr>
          <a:xfrm>
            <a:off x="1463040" y="1417320"/>
            <a:ext cx="1005840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Signal Generation</a:t>
            </a:r>
            <a:endParaRPr lang="en-US" sz="1600" dirty="0"/>
          </a:p>
        </p:txBody>
      </p:sp>
      <p:sp>
        <p:nvSpPr>
          <p:cNvPr id="7" name="Text 5"/>
          <p:cNvSpPr txBox="1"/>
          <p:nvPr/>
        </p:nvSpPr>
        <p:spPr>
          <a:xfrm>
            <a:off x="1463040" y="1709928"/>
            <a:ext cx="10058400" cy="274320"/>
          </a:xfrm>
          <a:prstGeom prst="rect">
            <a:avLst/>
          </a:prstGeom>
          <a:noFill/>
          <a:ln/>
        </p:spPr>
        <p:txBody>
          <a:bodyPr wrap="square" lIns="0" tIns="0" rIns="0" bIns="0" rtlCol="0" anchor="ctr"/>
          <a:lstStyle/>
          <a:p>
            <a:pPr marL="0" indent="0">
              <a:buNone/>
            </a:pPr>
            <a:r>
              <a:rPr lang="en-US" sz="1300" dirty="0">
                <a:solidFill>
                  <a:srgbClr val="C9D3E0"/>
                </a:solidFill>
                <a:latin typeface="Calibri" pitchFamily="34" charset="0"/>
                <a:ea typeface="Calibri" pitchFamily="34" charset="-122"/>
                <a:cs typeface="Calibri" pitchFamily="34" charset="-120"/>
              </a:rPr>
              <a:t>Generates a test signal by combining sine waves of different frequencies.</a:t>
            </a:r>
            <a:endParaRPr lang="en-US" sz="1300" dirty="0"/>
          </a:p>
        </p:txBody>
      </p:sp>
      <p:sp>
        <p:nvSpPr>
          <p:cNvPr id="8" name="Text 6"/>
          <p:cNvSpPr txBox="1"/>
          <p:nvPr/>
        </p:nvSpPr>
        <p:spPr>
          <a:xfrm>
            <a:off x="1463040" y="2002536"/>
            <a:ext cx="10058400" cy="256032"/>
          </a:xfrm>
          <a:prstGeom prst="rect">
            <a:avLst/>
          </a:prstGeom>
          <a:noFill/>
          <a:ln/>
        </p:spPr>
        <p:txBody>
          <a:bodyPr wrap="square" lIns="0" tIns="0" rIns="0" bIns="0" rtlCol="0" anchor="ctr"/>
          <a:lstStyle/>
          <a:p>
            <a:pPr marL="0" indent="0">
              <a:buNone/>
            </a:pPr>
            <a:r>
              <a:rPr lang="en-US" sz="1200" dirty="0">
                <a:solidFill>
                  <a:srgbClr val="5BC8F0"/>
                </a:solidFill>
                <a:latin typeface="Calibri" pitchFamily="34" charset="0"/>
                <a:ea typeface="Calibri" pitchFamily="34" charset="-122"/>
                <a:cs typeface="Calibri" pitchFamily="34" charset="-120"/>
              </a:rPr>
              <a:t>Function: </a:t>
            </a:r>
            <a:r>
              <a:rPr lang="en-US" sz="1200" dirty="0">
                <a:solidFill>
                  <a:srgbClr val="FFFFFF"/>
                </a:solidFill>
                <a:highlight>
                  <a:srgbClr val="2A3447"/>
                </a:highlight>
                <a:latin typeface="Consolas" pitchFamily="34" charset="0"/>
                <a:ea typeface="Consolas" pitchFamily="34" charset="-122"/>
                <a:cs typeface="Consolas" pitchFamily="34" charset="-120"/>
              </a:rPr>
              <a:t>{m.fn}</a:t>
            </a:r>
            <a:endParaRPr lang="en-US" sz="1200" dirty="0"/>
          </a:p>
        </p:txBody>
      </p:sp>
      <p:sp>
        <p:nvSpPr>
          <p:cNvPr id="9" name="Shape 7"/>
          <p:cNvSpPr/>
          <p:nvPr/>
        </p:nvSpPr>
        <p:spPr>
          <a:xfrm>
            <a:off x="640080" y="2441448"/>
            <a:ext cx="594360" cy="594360"/>
          </a:xfrm>
          <a:prstGeom prst="roundRect">
            <a:avLst>
              <a:gd name="adj" fmla="val 12308"/>
            </a:avLst>
          </a:prstGeom>
          <a:solidFill>
            <a:srgbClr val="15304A"/>
          </a:solidFill>
          <a:ln w="12700">
            <a:solidFill>
              <a:srgbClr val="15304A"/>
            </a:solidFill>
            <a:prstDash val="solid"/>
          </a:ln>
        </p:spPr>
      </p:sp>
      <p:sp>
        <p:nvSpPr>
          <p:cNvPr id="10" name="Text 8"/>
          <p:cNvSpPr txBox="1"/>
          <p:nvPr/>
        </p:nvSpPr>
        <p:spPr>
          <a:xfrm>
            <a:off x="640080" y="2441448"/>
            <a:ext cx="594360" cy="594360"/>
          </a:xfrm>
          <a:prstGeom prst="rect">
            <a:avLst/>
          </a:prstGeom>
          <a:noFill/>
          <a:ln/>
        </p:spPr>
        <p:txBody>
          <a:bodyPr wrap="square" lIns="0" tIns="0" rIns="0" bIns="0" rtlCol="0" anchor="ctr"/>
          <a:lstStyle/>
          <a:p>
            <a:pPr marL="0" indent="0" algn="ctr">
              <a:buNone/>
            </a:pPr>
            <a:r>
              <a:rPr lang="en-US" sz="1600" b="1" dirty="0">
                <a:solidFill>
                  <a:srgbClr val="5BC8F0"/>
                </a:solidFill>
                <a:latin typeface="Calibri" pitchFamily="34" charset="0"/>
                <a:ea typeface="Calibri" pitchFamily="34" charset="-122"/>
                <a:cs typeface="Calibri" pitchFamily="34" charset="-120"/>
              </a:rPr>
              <a:t>02</a:t>
            </a:r>
            <a:endParaRPr lang="en-US" sz="1600" dirty="0"/>
          </a:p>
        </p:txBody>
      </p:sp>
      <p:sp>
        <p:nvSpPr>
          <p:cNvPr id="11" name="Text 9"/>
          <p:cNvSpPr txBox="1"/>
          <p:nvPr/>
        </p:nvSpPr>
        <p:spPr>
          <a:xfrm>
            <a:off x="1463040" y="2395728"/>
            <a:ext cx="1005840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Echo Addition</a:t>
            </a:r>
            <a:endParaRPr lang="en-US" sz="1600" dirty="0"/>
          </a:p>
        </p:txBody>
      </p:sp>
      <p:sp>
        <p:nvSpPr>
          <p:cNvPr id="12" name="Text 10"/>
          <p:cNvSpPr txBox="1"/>
          <p:nvPr/>
        </p:nvSpPr>
        <p:spPr>
          <a:xfrm>
            <a:off x="1463040" y="2688336"/>
            <a:ext cx="10058400" cy="274320"/>
          </a:xfrm>
          <a:prstGeom prst="rect">
            <a:avLst/>
          </a:prstGeom>
          <a:noFill/>
          <a:ln/>
        </p:spPr>
        <p:txBody>
          <a:bodyPr wrap="square" lIns="0" tIns="0" rIns="0" bIns="0" rtlCol="0" anchor="ctr"/>
          <a:lstStyle/>
          <a:p>
            <a:pPr marL="0" indent="0">
              <a:buNone/>
            </a:pPr>
            <a:r>
              <a:rPr lang="en-US" sz="1300" dirty="0">
                <a:solidFill>
                  <a:srgbClr val="C9D3E0"/>
                </a:solidFill>
                <a:latin typeface="Calibri" pitchFamily="34" charset="0"/>
                <a:ea typeface="Calibri" pitchFamily="34" charset="-122"/>
                <a:cs typeface="Calibri" pitchFamily="34" charset="-120"/>
              </a:rPr>
              <a:t>Adds a delayed and quieter copy of the original signal.</a:t>
            </a:r>
            <a:endParaRPr lang="en-US" sz="1300" dirty="0"/>
          </a:p>
        </p:txBody>
      </p:sp>
      <p:sp>
        <p:nvSpPr>
          <p:cNvPr id="13" name="Text 11"/>
          <p:cNvSpPr txBox="1"/>
          <p:nvPr/>
        </p:nvSpPr>
        <p:spPr>
          <a:xfrm>
            <a:off x="1463040" y="2980944"/>
            <a:ext cx="10058400" cy="256032"/>
          </a:xfrm>
          <a:prstGeom prst="rect">
            <a:avLst/>
          </a:prstGeom>
          <a:noFill/>
          <a:ln/>
        </p:spPr>
        <p:txBody>
          <a:bodyPr wrap="square" lIns="0" tIns="0" rIns="0" bIns="0" rtlCol="0" anchor="ctr"/>
          <a:lstStyle/>
          <a:p>
            <a:pPr marL="0" indent="0">
              <a:buNone/>
            </a:pPr>
            <a:r>
              <a:rPr lang="en-US" sz="1200" dirty="0">
                <a:solidFill>
                  <a:srgbClr val="5BC8F0"/>
                </a:solidFill>
                <a:latin typeface="Calibri" pitchFamily="34" charset="0"/>
                <a:ea typeface="Calibri" pitchFamily="34" charset="-122"/>
                <a:cs typeface="Calibri" pitchFamily="34" charset="-120"/>
              </a:rPr>
              <a:t>Function: </a:t>
            </a:r>
            <a:r>
              <a:rPr lang="en-US" sz="1200" dirty="0">
                <a:solidFill>
                  <a:srgbClr val="FFFFFF"/>
                </a:solidFill>
                <a:highlight>
                  <a:srgbClr val="2A3447"/>
                </a:highlight>
                <a:latin typeface="Consolas" pitchFamily="34" charset="0"/>
                <a:ea typeface="Consolas" pitchFamily="34" charset="-122"/>
                <a:cs typeface="Consolas" pitchFamily="34" charset="-120"/>
              </a:rPr>
              <a:t>{m.fn}</a:t>
            </a:r>
            <a:endParaRPr lang="en-US" sz="1200" dirty="0"/>
          </a:p>
        </p:txBody>
      </p:sp>
      <p:sp>
        <p:nvSpPr>
          <p:cNvPr id="14" name="Shape 12"/>
          <p:cNvSpPr/>
          <p:nvPr/>
        </p:nvSpPr>
        <p:spPr>
          <a:xfrm>
            <a:off x="640080" y="3419856"/>
            <a:ext cx="594360" cy="594360"/>
          </a:xfrm>
          <a:prstGeom prst="roundRect">
            <a:avLst>
              <a:gd name="adj" fmla="val 12308"/>
            </a:avLst>
          </a:prstGeom>
          <a:solidFill>
            <a:srgbClr val="15304A"/>
          </a:solidFill>
          <a:ln w="12700">
            <a:solidFill>
              <a:srgbClr val="15304A"/>
            </a:solidFill>
            <a:prstDash val="solid"/>
          </a:ln>
        </p:spPr>
      </p:sp>
      <p:sp>
        <p:nvSpPr>
          <p:cNvPr id="15" name="Text 13"/>
          <p:cNvSpPr txBox="1"/>
          <p:nvPr/>
        </p:nvSpPr>
        <p:spPr>
          <a:xfrm>
            <a:off x="640080" y="3419856"/>
            <a:ext cx="594360" cy="594360"/>
          </a:xfrm>
          <a:prstGeom prst="rect">
            <a:avLst/>
          </a:prstGeom>
          <a:noFill/>
          <a:ln/>
        </p:spPr>
        <p:txBody>
          <a:bodyPr wrap="square" lIns="0" tIns="0" rIns="0" bIns="0" rtlCol="0" anchor="ctr"/>
          <a:lstStyle/>
          <a:p>
            <a:pPr marL="0" indent="0" algn="ctr">
              <a:buNone/>
            </a:pPr>
            <a:r>
              <a:rPr lang="en-US" sz="1600" b="1" dirty="0">
                <a:solidFill>
                  <a:srgbClr val="5BC8F0"/>
                </a:solidFill>
                <a:latin typeface="Calibri" pitchFamily="34" charset="0"/>
                <a:ea typeface="Calibri" pitchFamily="34" charset="-122"/>
                <a:cs typeface="Calibri" pitchFamily="34" charset="-120"/>
              </a:rPr>
              <a:t>03</a:t>
            </a:r>
            <a:endParaRPr lang="en-US" sz="1600" dirty="0"/>
          </a:p>
        </p:txBody>
      </p:sp>
      <p:sp>
        <p:nvSpPr>
          <p:cNvPr id="16" name="Text 14"/>
          <p:cNvSpPr txBox="1"/>
          <p:nvPr/>
        </p:nvSpPr>
        <p:spPr>
          <a:xfrm>
            <a:off x="1463040" y="3374136"/>
            <a:ext cx="1005840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Noise Generation</a:t>
            </a:r>
            <a:endParaRPr lang="en-US" sz="1600" dirty="0"/>
          </a:p>
        </p:txBody>
      </p:sp>
      <p:sp>
        <p:nvSpPr>
          <p:cNvPr id="17" name="Text 15"/>
          <p:cNvSpPr txBox="1"/>
          <p:nvPr/>
        </p:nvSpPr>
        <p:spPr>
          <a:xfrm>
            <a:off x="1463040" y="3666744"/>
            <a:ext cx="10058400" cy="274320"/>
          </a:xfrm>
          <a:prstGeom prst="rect">
            <a:avLst/>
          </a:prstGeom>
          <a:noFill/>
          <a:ln/>
        </p:spPr>
        <p:txBody>
          <a:bodyPr wrap="square" lIns="0" tIns="0" rIns="0" bIns="0" rtlCol="0" anchor="ctr"/>
          <a:lstStyle/>
          <a:p>
            <a:pPr marL="0" indent="0">
              <a:buNone/>
            </a:pPr>
            <a:r>
              <a:rPr lang="en-US" sz="1300" dirty="0">
                <a:solidFill>
                  <a:srgbClr val="C9D3E0"/>
                </a:solidFill>
                <a:latin typeface="Calibri" pitchFamily="34" charset="0"/>
                <a:ea typeface="Calibri" pitchFamily="34" charset="-122"/>
                <a:cs typeface="Calibri" pitchFamily="34" charset="-120"/>
              </a:rPr>
              <a:t>Adds random noise to simulate a less ideal signal.</a:t>
            </a:r>
            <a:endParaRPr lang="en-US" sz="1300" dirty="0"/>
          </a:p>
        </p:txBody>
      </p:sp>
      <p:sp>
        <p:nvSpPr>
          <p:cNvPr id="18" name="Text 16"/>
          <p:cNvSpPr txBox="1"/>
          <p:nvPr/>
        </p:nvSpPr>
        <p:spPr>
          <a:xfrm>
            <a:off x="1463040" y="3959352"/>
            <a:ext cx="10058400" cy="256032"/>
          </a:xfrm>
          <a:prstGeom prst="rect">
            <a:avLst/>
          </a:prstGeom>
          <a:noFill/>
          <a:ln/>
        </p:spPr>
        <p:txBody>
          <a:bodyPr wrap="square" lIns="0" tIns="0" rIns="0" bIns="0" rtlCol="0" anchor="ctr"/>
          <a:lstStyle/>
          <a:p>
            <a:pPr marL="0" indent="0">
              <a:buNone/>
            </a:pPr>
            <a:r>
              <a:rPr lang="en-US" sz="1200" dirty="0">
                <a:solidFill>
                  <a:srgbClr val="5BC8F0"/>
                </a:solidFill>
                <a:latin typeface="Calibri" pitchFamily="34" charset="0"/>
                <a:ea typeface="Calibri" pitchFamily="34" charset="-122"/>
                <a:cs typeface="Calibri" pitchFamily="34" charset="-120"/>
              </a:rPr>
              <a:t>Function: </a:t>
            </a:r>
            <a:r>
              <a:rPr lang="en-US" sz="1200" dirty="0">
                <a:solidFill>
                  <a:srgbClr val="FFFFFF"/>
                </a:solidFill>
                <a:highlight>
                  <a:srgbClr val="2A3447"/>
                </a:highlight>
                <a:latin typeface="Consolas" pitchFamily="34" charset="0"/>
                <a:ea typeface="Consolas" pitchFamily="34" charset="-122"/>
                <a:cs typeface="Consolas" pitchFamily="34" charset="-120"/>
              </a:rPr>
              <a:t>{m.fn}</a:t>
            </a:r>
            <a:endParaRPr lang="en-US" sz="1200" dirty="0"/>
          </a:p>
        </p:txBody>
      </p:sp>
      <p:sp>
        <p:nvSpPr>
          <p:cNvPr id="19" name="Shape 17"/>
          <p:cNvSpPr/>
          <p:nvPr/>
        </p:nvSpPr>
        <p:spPr>
          <a:xfrm>
            <a:off x="640080" y="4398264"/>
            <a:ext cx="594360" cy="594360"/>
          </a:xfrm>
          <a:prstGeom prst="roundRect">
            <a:avLst>
              <a:gd name="adj" fmla="val 12308"/>
            </a:avLst>
          </a:prstGeom>
          <a:solidFill>
            <a:srgbClr val="15304A"/>
          </a:solidFill>
          <a:ln w="12700">
            <a:solidFill>
              <a:srgbClr val="15304A"/>
            </a:solidFill>
            <a:prstDash val="solid"/>
          </a:ln>
        </p:spPr>
      </p:sp>
      <p:sp>
        <p:nvSpPr>
          <p:cNvPr id="20" name="Text 18"/>
          <p:cNvSpPr txBox="1"/>
          <p:nvPr/>
        </p:nvSpPr>
        <p:spPr>
          <a:xfrm>
            <a:off x="640080" y="4398264"/>
            <a:ext cx="594360" cy="594360"/>
          </a:xfrm>
          <a:prstGeom prst="rect">
            <a:avLst/>
          </a:prstGeom>
          <a:noFill/>
          <a:ln/>
        </p:spPr>
        <p:txBody>
          <a:bodyPr wrap="square" lIns="0" tIns="0" rIns="0" bIns="0" rtlCol="0" anchor="ctr"/>
          <a:lstStyle/>
          <a:p>
            <a:pPr marL="0" indent="0" algn="ctr">
              <a:buNone/>
            </a:pPr>
            <a:r>
              <a:rPr lang="en-US" sz="1600" b="1" dirty="0">
                <a:solidFill>
                  <a:srgbClr val="5BC8F0"/>
                </a:solidFill>
                <a:latin typeface="Calibri" pitchFamily="34" charset="0"/>
                <a:ea typeface="Calibri" pitchFamily="34" charset="-122"/>
                <a:cs typeface="Calibri" pitchFamily="34" charset="-120"/>
              </a:rPr>
              <a:t>04</a:t>
            </a:r>
            <a:endParaRPr lang="en-US" sz="1600" dirty="0"/>
          </a:p>
        </p:txBody>
      </p:sp>
      <p:sp>
        <p:nvSpPr>
          <p:cNvPr id="21" name="Text 19"/>
          <p:cNvSpPr txBox="1"/>
          <p:nvPr/>
        </p:nvSpPr>
        <p:spPr>
          <a:xfrm>
            <a:off x="1463040" y="4352544"/>
            <a:ext cx="1005840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Echo Detection</a:t>
            </a:r>
            <a:endParaRPr lang="en-US" sz="1600" dirty="0"/>
          </a:p>
        </p:txBody>
      </p:sp>
      <p:sp>
        <p:nvSpPr>
          <p:cNvPr id="22" name="Text 20"/>
          <p:cNvSpPr txBox="1"/>
          <p:nvPr/>
        </p:nvSpPr>
        <p:spPr>
          <a:xfrm>
            <a:off x="1463040" y="4645152"/>
            <a:ext cx="10058400" cy="274320"/>
          </a:xfrm>
          <a:prstGeom prst="rect">
            <a:avLst/>
          </a:prstGeom>
          <a:noFill/>
          <a:ln/>
        </p:spPr>
        <p:txBody>
          <a:bodyPr wrap="square" lIns="0" tIns="0" rIns="0" bIns="0" rtlCol="0" anchor="ctr"/>
          <a:lstStyle/>
          <a:p>
            <a:pPr marL="0" indent="0">
              <a:buNone/>
            </a:pPr>
            <a:r>
              <a:rPr lang="en-US" sz="1300" dirty="0">
                <a:solidFill>
                  <a:srgbClr val="C9D3E0"/>
                </a:solidFill>
                <a:latin typeface="Calibri" pitchFamily="34" charset="0"/>
                <a:ea typeface="Calibri" pitchFamily="34" charset="-122"/>
                <a:cs typeface="Calibri" pitchFamily="34" charset="-120"/>
              </a:rPr>
              <a:t>Compares delayed signal patterns and selects the delay with the highest normalized correlation score.</a:t>
            </a:r>
            <a:endParaRPr lang="en-US" sz="1300" dirty="0"/>
          </a:p>
        </p:txBody>
      </p:sp>
      <p:sp>
        <p:nvSpPr>
          <p:cNvPr id="23" name="Text 21"/>
          <p:cNvSpPr txBox="1"/>
          <p:nvPr/>
        </p:nvSpPr>
        <p:spPr>
          <a:xfrm>
            <a:off x="1463040" y="4937760"/>
            <a:ext cx="10058400" cy="256032"/>
          </a:xfrm>
          <a:prstGeom prst="rect">
            <a:avLst/>
          </a:prstGeom>
          <a:noFill/>
          <a:ln/>
        </p:spPr>
        <p:txBody>
          <a:bodyPr wrap="square" lIns="0" tIns="0" rIns="0" bIns="0" rtlCol="0" anchor="ctr"/>
          <a:lstStyle/>
          <a:p>
            <a:pPr marL="0" indent="0">
              <a:buNone/>
            </a:pPr>
            <a:r>
              <a:rPr lang="en-US" sz="1200" dirty="0">
                <a:solidFill>
                  <a:srgbClr val="5BC8F0"/>
                </a:solidFill>
                <a:latin typeface="Calibri" pitchFamily="34" charset="0"/>
                <a:ea typeface="Calibri" pitchFamily="34" charset="-122"/>
                <a:cs typeface="Calibri" pitchFamily="34" charset="-120"/>
              </a:rPr>
              <a:t>Function: </a:t>
            </a:r>
            <a:r>
              <a:rPr lang="en-US" sz="1200" dirty="0">
                <a:solidFill>
                  <a:srgbClr val="FFFFFF"/>
                </a:solidFill>
                <a:highlight>
                  <a:srgbClr val="2A3447"/>
                </a:highlight>
                <a:latin typeface="Consolas" pitchFamily="34" charset="0"/>
                <a:ea typeface="Consolas" pitchFamily="34" charset="-122"/>
                <a:cs typeface="Consolas" pitchFamily="34" charset="-120"/>
              </a:rPr>
              <a:t>{m.fn}</a:t>
            </a:r>
            <a:endParaRPr lang="en-US" sz="1200" dirty="0"/>
          </a:p>
        </p:txBody>
      </p:sp>
      <p:sp>
        <p:nvSpPr>
          <p:cNvPr id="24" name="Shape 22"/>
          <p:cNvSpPr/>
          <p:nvPr/>
        </p:nvSpPr>
        <p:spPr>
          <a:xfrm>
            <a:off x="640080" y="5376672"/>
            <a:ext cx="594360" cy="594360"/>
          </a:xfrm>
          <a:prstGeom prst="roundRect">
            <a:avLst>
              <a:gd name="adj" fmla="val 12308"/>
            </a:avLst>
          </a:prstGeom>
          <a:solidFill>
            <a:srgbClr val="15304A"/>
          </a:solidFill>
          <a:ln w="12700">
            <a:solidFill>
              <a:srgbClr val="15304A"/>
            </a:solidFill>
            <a:prstDash val="solid"/>
          </a:ln>
        </p:spPr>
      </p:sp>
      <p:sp>
        <p:nvSpPr>
          <p:cNvPr id="25" name="Text 23"/>
          <p:cNvSpPr txBox="1"/>
          <p:nvPr/>
        </p:nvSpPr>
        <p:spPr>
          <a:xfrm>
            <a:off x="640080" y="5376672"/>
            <a:ext cx="594360" cy="594360"/>
          </a:xfrm>
          <a:prstGeom prst="rect">
            <a:avLst/>
          </a:prstGeom>
          <a:noFill/>
          <a:ln/>
        </p:spPr>
        <p:txBody>
          <a:bodyPr wrap="square" lIns="0" tIns="0" rIns="0" bIns="0" rtlCol="0" anchor="ctr"/>
          <a:lstStyle/>
          <a:p>
            <a:pPr marL="0" indent="0" algn="ctr">
              <a:buNone/>
            </a:pPr>
            <a:r>
              <a:rPr lang="en-US" sz="1600" b="1" dirty="0">
                <a:solidFill>
                  <a:srgbClr val="5BC8F0"/>
                </a:solidFill>
                <a:latin typeface="Calibri" pitchFamily="34" charset="0"/>
                <a:ea typeface="Calibri" pitchFamily="34" charset="-122"/>
                <a:cs typeface="Calibri" pitchFamily="34" charset="-120"/>
              </a:rPr>
              <a:t>05</a:t>
            </a:r>
            <a:endParaRPr lang="en-US" sz="1600" dirty="0"/>
          </a:p>
        </p:txBody>
      </p:sp>
      <p:sp>
        <p:nvSpPr>
          <p:cNvPr id="26" name="Text 24"/>
          <p:cNvSpPr txBox="1"/>
          <p:nvPr/>
        </p:nvSpPr>
        <p:spPr>
          <a:xfrm>
            <a:off x="1463040" y="5330952"/>
            <a:ext cx="1005840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Result Reporting</a:t>
            </a:r>
            <a:endParaRPr lang="en-US" sz="1600" dirty="0"/>
          </a:p>
        </p:txBody>
      </p:sp>
      <p:sp>
        <p:nvSpPr>
          <p:cNvPr id="27" name="Text 25"/>
          <p:cNvSpPr txBox="1"/>
          <p:nvPr/>
        </p:nvSpPr>
        <p:spPr>
          <a:xfrm>
            <a:off x="1463040" y="5623560"/>
            <a:ext cx="10058400" cy="274320"/>
          </a:xfrm>
          <a:prstGeom prst="rect">
            <a:avLst/>
          </a:prstGeom>
          <a:noFill/>
          <a:ln/>
        </p:spPr>
        <p:txBody>
          <a:bodyPr wrap="square" lIns="0" tIns="0" rIns="0" bIns="0" rtlCol="0" anchor="ctr"/>
          <a:lstStyle/>
          <a:p>
            <a:pPr marL="0" indent="0">
              <a:buNone/>
            </a:pPr>
            <a:r>
              <a:rPr lang="en-US" sz="1300" dirty="0">
                <a:solidFill>
                  <a:srgbClr val="C9D3E0"/>
                </a:solidFill>
                <a:latin typeface="Calibri" pitchFamily="34" charset="0"/>
                <a:ea typeface="Calibri" pitchFamily="34" charset="-122"/>
                <a:cs typeface="Calibri" pitchFamily="34" charset="-120"/>
              </a:rPr>
              <a:t>Displays the estimated delay, correlation score, estimation error, and final status.</a:t>
            </a:r>
            <a:endParaRPr lang="en-US" sz="1300" dirty="0"/>
          </a:p>
        </p:txBody>
      </p:sp>
      <p:sp>
        <p:nvSpPr>
          <p:cNvPr id="28" name="Text 26"/>
          <p:cNvSpPr txBox="1"/>
          <p:nvPr/>
        </p:nvSpPr>
        <p:spPr>
          <a:xfrm>
            <a:off x="1463040" y="5916168"/>
            <a:ext cx="10058400" cy="256032"/>
          </a:xfrm>
          <a:prstGeom prst="rect">
            <a:avLst/>
          </a:prstGeom>
          <a:noFill/>
          <a:ln/>
        </p:spPr>
        <p:txBody>
          <a:bodyPr wrap="square" lIns="0" tIns="0" rIns="0" bIns="0" rtlCol="0" anchor="ctr"/>
          <a:lstStyle/>
          <a:p>
            <a:pPr marL="0" indent="0">
              <a:buNone/>
            </a:pPr>
            <a:r>
              <a:rPr lang="en-US" sz="1200" dirty="0">
                <a:solidFill>
                  <a:srgbClr val="5BC8F0"/>
                </a:solidFill>
                <a:latin typeface="Calibri" pitchFamily="34" charset="0"/>
                <a:ea typeface="Calibri" pitchFamily="34" charset="-122"/>
                <a:cs typeface="Calibri" pitchFamily="34" charset="-120"/>
              </a:rPr>
              <a:t>Function: </a:t>
            </a:r>
            <a:r>
              <a:rPr lang="en-US" sz="1200" dirty="0">
                <a:solidFill>
                  <a:srgbClr val="FFFFFF"/>
                </a:solidFill>
                <a:highlight>
                  <a:srgbClr val="2A3447"/>
                </a:highlight>
                <a:latin typeface="Consolas" pitchFamily="34" charset="0"/>
                <a:ea typeface="Consolas" pitchFamily="34" charset="-122"/>
                <a:cs typeface="Consolas" pitchFamily="34" charset="-120"/>
              </a:rPr>
              <a:t>{m.fn}</a:t>
            </a:r>
            <a:endParaRPr lang="en-US" sz="1200" dirty="0"/>
          </a:p>
        </p:txBody>
      </p:sp>
      <p:sp>
        <p:nvSpPr>
          <p:cNvPr id="30" name="Slide Number Placeholder 7"/>
          <p:cNvSpPr txBox="1">
            <a:spLocks/>
          </p:cNvSpPr>
          <p:nvPr/>
        </p:nvSpPr>
        <p:spPr>
          <a:xfrm>
            <a:off x="9664700" y="6218556"/>
            <a:ext cx="21336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1200" b="1" dirty="0">
                <a:solidFill>
                  <a:srgbClr val="FFFF00"/>
                </a:solidFill>
              </a:rPr>
              <a:t>6</a:t>
            </a:r>
          </a:p>
        </p:txBody>
      </p:sp>
    </p:spTree>
    <p:extLst>
      <p:ext uri="{BB962C8B-B14F-4D97-AF65-F5344CB8AC3E}">
        <p14:creationId xmlns:p14="http://schemas.microsoft.com/office/powerpoint/2010/main" val="28242635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881360" cy="457200"/>
          </a:xfrm>
          <a:prstGeom prst="rect">
            <a:avLst/>
          </a:prstGeom>
          <a:noFill/>
          <a:ln/>
        </p:spPr>
        <p:txBody>
          <a:bodyPr wrap="square" lIns="0" tIns="0" rIns="0" bIns="0" rtlCol="0" anchor="ctr"/>
          <a:lstStyle/>
          <a:p>
            <a:pPr marL="0" indent="0">
              <a:buNone/>
            </a:pPr>
            <a:r>
              <a:rPr lang="en-US" sz="2400" b="1" dirty="0">
                <a:solidFill>
                  <a:srgbClr val="5BC8F0"/>
                </a:solidFill>
                <a:latin typeface="Calibri" pitchFamily="34" charset="0"/>
                <a:ea typeface="Calibri" pitchFamily="34" charset="-122"/>
                <a:cs typeface="Calibri" pitchFamily="34" charset="-120"/>
              </a:rPr>
              <a:t>ECHO DELAY ESTIMATION</a:t>
            </a:r>
            <a:endParaRPr lang="en-US" sz="2400" dirty="0"/>
          </a:p>
        </p:txBody>
      </p:sp>
      <p:sp>
        <p:nvSpPr>
          <p:cNvPr id="3" name="Text 1"/>
          <p:cNvSpPr txBox="1"/>
          <p:nvPr/>
        </p:nvSpPr>
        <p:spPr>
          <a:xfrm>
            <a:off x="640080" y="914400"/>
            <a:ext cx="108813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Illustrative code example</a:t>
            </a:r>
            <a:endParaRPr lang="en-US" sz="1400" dirty="0"/>
          </a:p>
        </p:txBody>
      </p:sp>
      <p:sp>
        <p:nvSpPr>
          <p:cNvPr id="4" name="Shape 2"/>
          <p:cNvSpPr/>
          <p:nvPr/>
        </p:nvSpPr>
        <p:spPr>
          <a:xfrm>
            <a:off x="640080" y="1280160"/>
            <a:ext cx="10881360" cy="2240280"/>
          </a:xfrm>
          <a:prstGeom prst="roundRect">
            <a:avLst>
              <a:gd name="adj" fmla="val 2449"/>
            </a:avLst>
          </a:prstGeom>
          <a:solidFill>
            <a:srgbClr val="040A14"/>
          </a:solidFill>
          <a:ln w="12700">
            <a:solidFill>
              <a:srgbClr val="1B2A3D"/>
            </a:solidFill>
            <a:prstDash val="solid"/>
          </a:ln>
        </p:spPr>
      </p:sp>
      <p:sp>
        <p:nvSpPr>
          <p:cNvPr id="5" name="Text 3"/>
          <p:cNvSpPr txBox="1"/>
          <p:nvPr/>
        </p:nvSpPr>
        <p:spPr>
          <a:xfrm>
            <a:off x="868680" y="1371600"/>
            <a:ext cx="10424160" cy="2057400"/>
          </a:xfrm>
          <a:prstGeom prst="rect">
            <a:avLst/>
          </a:prstGeom>
          <a:noFill/>
          <a:ln/>
        </p:spPr>
        <p:txBody>
          <a:bodyPr wrap="square" lIns="0" tIns="0" rIns="0" bIns="0" rtlCol="0" anchor="ctr"/>
          <a:lstStyle/>
          <a:p>
            <a:pPr marL="0" indent="0">
              <a:buNone/>
            </a:pPr>
            <a:r>
              <a:rPr lang="en-US" sz="1300" dirty="0">
                <a:solidFill>
                  <a:srgbClr val="E6EDF5"/>
                </a:solidFill>
                <a:latin typeface="Consolas" pitchFamily="34" charset="0"/>
                <a:ea typeface="Consolas" pitchFamily="34" charset="-122"/>
                <a:cs typeface="Consolas" pitchFamily="34" charset="-120"/>
              </a:rPr>
              <a:t>const int sampleRate = 8000;</a:t>
            </a:r>
            <a:endParaRPr lang="en-US" sz="1300" dirty="0"/>
          </a:p>
          <a:p>
            <a:pPr marL="0" indent="0">
              <a:buNone/>
            </a:pPr>
            <a:r>
              <a:rPr lang="en-US" sz="1300" dirty="0">
                <a:solidFill>
                  <a:srgbClr val="E6EDF5"/>
                </a:solidFill>
                <a:latin typeface="Consolas" pitchFamily="34" charset="0"/>
                <a:ea typeface="Consolas" pitchFamily="34" charset="-122"/>
                <a:cs typeface="Consolas" pitchFamily="34" charset="-120"/>
              </a:rPr>
              <a:t>const double delaySeconds = 0.25;</a:t>
            </a:r>
            <a:endParaRPr lang="en-US" sz="1300" dirty="0"/>
          </a:p>
          <a:p>
            <a:pPr marL="0" indent="0">
              <a:buNone/>
            </a:pPr>
            <a:r>
              <a:rPr lang="en-US" sz="1300" dirty="0">
                <a:solidFill>
                  <a:srgbClr val="E6EDF5"/>
                </a:solidFill>
                <a:latin typeface="Consolas" pitchFamily="34" charset="0"/>
                <a:ea typeface="Consolas" pitchFamily="34" charset="-122"/>
                <a:cs typeface="Consolas" pitchFamily="34" charset="-120"/>
              </a:rPr>
              <a:t> </a:t>
            </a:r>
            <a:endParaRPr lang="en-US" sz="1300" dirty="0"/>
          </a:p>
          <a:p>
            <a:pPr marL="0" indent="0">
              <a:buNone/>
            </a:pPr>
            <a:r>
              <a:rPr lang="en-US" sz="1300" dirty="0">
                <a:solidFill>
                  <a:srgbClr val="E6EDF5"/>
                </a:solidFill>
                <a:latin typeface="Consolas" pitchFamily="34" charset="0"/>
                <a:ea typeface="Consolas" pitchFamily="34" charset="-122"/>
                <a:cs typeface="Consolas" pitchFamily="34" charset="-120"/>
              </a:rPr>
              <a:t>const int delaySamples =</a:t>
            </a:r>
            <a:endParaRPr lang="en-US" sz="1300" dirty="0"/>
          </a:p>
          <a:p>
            <a:pPr marL="0" indent="0">
              <a:buNone/>
            </a:pPr>
            <a:r>
              <a:rPr lang="en-US" sz="1300" dirty="0">
                <a:solidFill>
                  <a:srgbClr val="E6EDF5"/>
                </a:solidFill>
                <a:latin typeface="Consolas" pitchFamily="34" charset="0"/>
                <a:ea typeface="Consolas" pitchFamily="34" charset="-122"/>
                <a:cs typeface="Consolas" pitchFamily="34" charset="-120"/>
              </a:rPr>
              <a:t>    static_cast&lt;int&gt;(</a:t>
            </a:r>
            <a:endParaRPr lang="en-US" sz="1300" dirty="0"/>
          </a:p>
          <a:p>
            <a:pPr marL="0" indent="0">
              <a:buNone/>
            </a:pPr>
            <a:r>
              <a:rPr lang="en-US" sz="1300" dirty="0">
                <a:solidFill>
                  <a:srgbClr val="E6EDF5"/>
                </a:solidFill>
                <a:latin typeface="Consolas" pitchFamily="34" charset="0"/>
                <a:ea typeface="Consolas" pitchFamily="34" charset="-122"/>
                <a:cs typeface="Consolas" pitchFamily="34" charset="-120"/>
              </a:rPr>
              <a:t>        delaySeconds * sampleRate</a:t>
            </a:r>
            <a:endParaRPr lang="en-US" sz="1300" dirty="0"/>
          </a:p>
          <a:p>
            <a:pPr marL="0" indent="0">
              <a:buNone/>
            </a:pPr>
            <a:r>
              <a:rPr lang="en-US" sz="1300" dirty="0">
                <a:solidFill>
                  <a:srgbClr val="E6EDF5"/>
                </a:solidFill>
                <a:latin typeface="Consolas" pitchFamily="34" charset="0"/>
                <a:ea typeface="Consolas" pitchFamily="34" charset="-122"/>
                <a:cs typeface="Consolas" pitchFamily="34" charset="-120"/>
              </a:rPr>
              <a:t>    );</a:t>
            </a:r>
            <a:endParaRPr lang="en-US" sz="1300" dirty="0"/>
          </a:p>
          <a:p>
            <a:pPr marL="0" indent="0">
              <a:buNone/>
            </a:pPr>
            <a:r>
              <a:rPr lang="en-US" sz="1300" dirty="0">
                <a:solidFill>
                  <a:srgbClr val="E6EDF5"/>
                </a:solidFill>
                <a:latin typeface="Consolas" pitchFamily="34" charset="0"/>
                <a:ea typeface="Consolas" pitchFamily="34" charset="-122"/>
                <a:cs typeface="Consolas" pitchFamily="34" charset="-120"/>
              </a:rPr>
              <a:t> </a:t>
            </a:r>
            <a:endParaRPr lang="en-US" sz="1300" dirty="0"/>
          </a:p>
          <a:p>
            <a:pPr marL="0" indent="0">
              <a:buNone/>
            </a:pPr>
            <a:r>
              <a:rPr lang="en-US" sz="1300" dirty="0">
                <a:solidFill>
                  <a:srgbClr val="E6EDF5"/>
                </a:solidFill>
                <a:latin typeface="Consolas" pitchFamily="34" charset="0"/>
                <a:ea typeface="Consolas" pitchFamily="34" charset="-122"/>
                <a:cs typeface="Consolas" pitchFamily="34" charset="-120"/>
              </a:rPr>
              <a:t>cout &lt;&lt; "Delay samples: "</a:t>
            </a:r>
            <a:endParaRPr lang="en-US" sz="1300" dirty="0"/>
          </a:p>
          <a:p>
            <a:pPr marL="0" indent="0">
              <a:buNone/>
            </a:pPr>
            <a:r>
              <a:rPr lang="en-US" sz="1300" dirty="0">
                <a:solidFill>
                  <a:srgbClr val="E6EDF5"/>
                </a:solidFill>
                <a:latin typeface="Consolas" pitchFamily="34" charset="0"/>
                <a:ea typeface="Consolas" pitchFamily="34" charset="-122"/>
                <a:cs typeface="Consolas" pitchFamily="34" charset="-120"/>
              </a:rPr>
              <a:t>    &lt;&lt; delaySamples;</a:t>
            </a:r>
            <a:endParaRPr lang="en-US" sz="1300" dirty="0"/>
          </a:p>
        </p:txBody>
      </p:sp>
      <p:sp>
        <p:nvSpPr>
          <p:cNvPr id="6" name="Text 4"/>
          <p:cNvSpPr txBox="1"/>
          <p:nvPr/>
        </p:nvSpPr>
        <p:spPr>
          <a:xfrm>
            <a:off x="640080" y="3657600"/>
            <a:ext cx="108813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How it works</a:t>
            </a:r>
            <a:endParaRPr lang="en-US" sz="1400" dirty="0"/>
          </a:p>
        </p:txBody>
      </p:sp>
      <p:sp>
        <p:nvSpPr>
          <p:cNvPr id="7" name="Text 5"/>
          <p:cNvSpPr txBox="1"/>
          <p:nvPr/>
        </p:nvSpPr>
        <p:spPr>
          <a:xfrm>
            <a:off x="640080" y="3977640"/>
            <a:ext cx="10881360" cy="868680"/>
          </a:xfrm>
          <a:prstGeom prst="rect">
            <a:avLst/>
          </a:prstGeom>
          <a:noFill/>
          <a:ln/>
        </p:spPr>
        <p:txBody>
          <a:bodyPr wrap="square" lIns="0" tIns="0" rIns="0" bIns="0" rtlCol="0" anchor="ctr"/>
          <a:lstStyle/>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The sampling rate is 8,000 samples per second.</a:t>
            </a:r>
            <a:endParaRPr lang="en-US" sz="1400" dirty="0"/>
          </a:p>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The simulated echo delay is 0.25 seconds.</a:t>
            </a:r>
            <a:endParaRPr lang="en-US" sz="1400" dirty="0"/>
          </a:p>
          <a:p>
            <a:pPr marL="342900" indent="-342900">
              <a:spcAft>
                <a:spcPts val="300"/>
              </a:spcAft>
              <a:buSzPct val="100000"/>
              <a:buChar char="•"/>
            </a:pPr>
            <a:r>
              <a:rPr lang="en-US" sz="1400" dirty="0">
                <a:solidFill>
                  <a:srgbClr val="FFFFFF"/>
                </a:solidFill>
                <a:latin typeface="Calibri" pitchFamily="34" charset="0"/>
                <a:ea typeface="Calibri" pitchFamily="34" charset="-122"/>
                <a:cs typeface="Calibri" pitchFamily="34" charset="-120"/>
              </a:rPr>
              <a:t>The program converts the delay into samples.</a:t>
            </a:r>
            <a:endParaRPr lang="en-US" sz="1400" dirty="0"/>
          </a:p>
        </p:txBody>
      </p:sp>
      <p:sp>
        <p:nvSpPr>
          <p:cNvPr id="8" name="Text 6"/>
          <p:cNvSpPr txBox="1"/>
          <p:nvPr/>
        </p:nvSpPr>
        <p:spPr>
          <a:xfrm>
            <a:off x="640080" y="4937760"/>
            <a:ext cx="10881360" cy="457200"/>
          </a:xfrm>
          <a:prstGeom prst="rect">
            <a:avLst/>
          </a:prstGeom>
          <a:noFill/>
          <a:ln/>
        </p:spPr>
        <p:txBody>
          <a:bodyPr wrap="square" lIns="0" tIns="0" rIns="0" bIns="0" rtlCol="0" anchor="ctr"/>
          <a:lstStyle/>
          <a:p>
            <a:pPr marL="0" indent="0" algn="ctr">
              <a:buNone/>
            </a:pPr>
            <a:r>
              <a:rPr lang="en-US" sz="2000" dirty="0">
                <a:solidFill>
                  <a:srgbClr val="FFFFFF"/>
                </a:solidFill>
                <a:latin typeface="Cambria Math" pitchFamily="34" charset="0"/>
                <a:ea typeface="Cambria Math" pitchFamily="34" charset="-122"/>
                <a:cs typeface="Cambria Math" pitchFamily="34" charset="-120"/>
              </a:rPr>
              <a:t>0.25 × 8000 = 2000 samples</a:t>
            </a:r>
            <a:endParaRPr lang="en-US" sz="2000" dirty="0"/>
          </a:p>
        </p:txBody>
      </p:sp>
      <p:sp>
        <p:nvSpPr>
          <p:cNvPr id="9" name="Text 7"/>
          <p:cNvSpPr txBox="1"/>
          <p:nvPr/>
        </p:nvSpPr>
        <p:spPr>
          <a:xfrm>
            <a:off x="640080" y="5577840"/>
            <a:ext cx="108813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Detection process</a:t>
            </a:r>
            <a:endParaRPr lang="en-US" sz="1400" dirty="0"/>
          </a:p>
        </p:txBody>
      </p:sp>
      <p:sp>
        <p:nvSpPr>
          <p:cNvPr id="10" name="Shape 8"/>
          <p:cNvSpPr/>
          <p:nvPr/>
        </p:nvSpPr>
        <p:spPr>
          <a:xfrm>
            <a:off x="640080" y="5943600"/>
            <a:ext cx="3200400" cy="502920"/>
          </a:xfrm>
          <a:prstGeom prst="roundRect">
            <a:avLst>
              <a:gd name="adj" fmla="val 14545"/>
            </a:avLst>
          </a:prstGeom>
          <a:solidFill>
            <a:srgbClr val="15304A"/>
          </a:solidFill>
          <a:ln w="12700">
            <a:solidFill>
              <a:srgbClr val="15304A"/>
            </a:solidFill>
            <a:prstDash val="solid"/>
          </a:ln>
        </p:spPr>
      </p:sp>
      <p:sp>
        <p:nvSpPr>
          <p:cNvPr id="11" name="Text 9"/>
          <p:cNvSpPr txBox="1"/>
          <p:nvPr/>
        </p:nvSpPr>
        <p:spPr>
          <a:xfrm>
            <a:off x="640080" y="5943600"/>
            <a:ext cx="3200400" cy="50292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Original Signal</a:t>
            </a:r>
            <a:endParaRPr lang="en-US" sz="1400" dirty="0"/>
          </a:p>
        </p:txBody>
      </p:sp>
      <p:sp>
        <p:nvSpPr>
          <p:cNvPr id="12" name="Text 10"/>
          <p:cNvSpPr txBox="1"/>
          <p:nvPr/>
        </p:nvSpPr>
        <p:spPr>
          <a:xfrm>
            <a:off x="3840480" y="5943600"/>
            <a:ext cx="640080" cy="502920"/>
          </a:xfrm>
          <a:prstGeom prst="rect">
            <a:avLst/>
          </a:prstGeom>
          <a:noFill/>
          <a:ln/>
        </p:spPr>
        <p:txBody>
          <a:bodyPr wrap="square" lIns="0" tIns="0" rIns="0" bIns="0" rtlCol="0" anchor="ctr"/>
          <a:lstStyle/>
          <a:p>
            <a:pPr marL="0" indent="0" algn="ctr">
              <a:buNone/>
            </a:pPr>
            <a:r>
              <a:rPr lang="en-US" sz="1800" dirty="0">
                <a:solidFill>
                  <a:srgbClr val="5BC8F0"/>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4480560" y="5943600"/>
            <a:ext cx="3200400" cy="502920"/>
          </a:xfrm>
          <a:prstGeom prst="roundRect">
            <a:avLst>
              <a:gd name="adj" fmla="val 14545"/>
            </a:avLst>
          </a:prstGeom>
          <a:solidFill>
            <a:srgbClr val="15304A"/>
          </a:solidFill>
          <a:ln w="12700">
            <a:solidFill>
              <a:srgbClr val="15304A"/>
            </a:solidFill>
            <a:prstDash val="solid"/>
          </a:ln>
        </p:spPr>
      </p:sp>
      <p:sp>
        <p:nvSpPr>
          <p:cNvPr id="14" name="Text 12"/>
          <p:cNvSpPr txBox="1"/>
          <p:nvPr/>
        </p:nvSpPr>
        <p:spPr>
          <a:xfrm>
            <a:off x="4480560" y="5943600"/>
            <a:ext cx="3200400" cy="50292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Add Echo + Noise</a:t>
            </a:r>
            <a:endParaRPr lang="en-US" sz="1400" dirty="0"/>
          </a:p>
        </p:txBody>
      </p:sp>
      <p:sp>
        <p:nvSpPr>
          <p:cNvPr id="15" name="Text 13"/>
          <p:cNvSpPr txBox="1"/>
          <p:nvPr/>
        </p:nvSpPr>
        <p:spPr>
          <a:xfrm>
            <a:off x="7680960" y="5943600"/>
            <a:ext cx="640080" cy="502920"/>
          </a:xfrm>
          <a:prstGeom prst="rect">
            <a:avLst/>
          </a:prstGeom>
          <a:noFill/>
          <a:ln/>
        </p:spPr>
        <p:txBody>
          <a:bodyPr wrap="square" lIns="0" tIns="0" rIns="0" bIns="0" rtlCol="0" anchor="ctr"/>
          <a:lstStyle/>
          <a:p>
            <a:pPr marL="0" indent="0" algn="ctr">
              <a:buNone/>
            </a:pPr>
            <a:r>
              <a:rPr lang="en-US" sz="1800" dirty="0">
                <a:solidFill>
                  <a:srgbClr val="5BC8F0"/>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8321040" y="5943600"/>
            <a:ext cx="3200400" cy="502920"/>
          </a:xfrm>
          <a:prstGeom prst="roundRect">
            <a:avLst>
              <a:gd name="adj" fmla="val 14545"/>
            </a:avLst>
          </a:prstGeom>
          <a:solidFill>
            <a:srgbClr val="15304A"/>
          </a:solidFill>
          <a:ln w="12700">
            <a:solidFill>
              <a:srgbClr val="15304A"/>
            </a:solidFill>
            <a:prstDash val="solid"/>
          </a:ln>
        </p:spPr>
      </p:sp>
      <p:sp>
        <p:nvSpPr>
          <p:cNvPr id="17" name="Text 15"/>
          <p:cNvSpPr txBox="1"/>
          <p:nvPr/>
        </p:nvSpPr>
        <p:spPr>
          <a:xfrm>
            <a:off x="8321040" y="5875020"/>
            <a:ext cx="3200400" cy="50292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Estimate Delay</a:t>
            </a:r>
            <a:endParaRPr lang="en-US" sz="1400" dirty="0"/>
          </a:p>
        </p:txBody>
      </p:sp>
      <p:sp>
        <p:nvSpPr>
          <p:cNvPr id="19" name="Slide Number Placeholder 7"/>
          <p:cNvSpPr txBox="1">
            <a:spLocks/>
          </p:cNvSpPr>
          <p:nvPr/>
        </p:nvSpPr>
        <p:spPr>
          <a:xfrm>
            <a:off x="9664700" y="6218556"/>
            <a:ext cx="21336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1200" b="1" dirty="0" smtClean="0">
                <a:solidFill>
                  <a:srgbClr val="FFFF00"/>
                </a:solidFill>
              </a:rPr>
              <a:t>7</a:t>
            </a:r>
            <a:endParaRPr lang="en-US" sz="1200" b="1" dirty="0">
              <a:solidFill>
                <a:srgbClr val="FFFF00"/>
              </a:solidFill>
            </a:endParaRPr>
          </a:p>
        </p:txBody>
      </p:sp>
    </p:spTree>
    <p:extLst>
      <p:ext uri="{BB962C8B-B14F-4D97-AF65-F5344CB8AC3E}">
        <p14:creationId xmlns:p14="http://schemas.microsoft.com/office/powerpoint/2010/main" val="22709591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881360" cy="457200"/>
          </a:xfrm>
          <a:prstGeom prst="rect">
            <a:avLst/>
          </a:prstGeom>
          <a:noFill/>
          <a:ln/>
        </p:spPr>
        <p:txBody>
          <a:bodyPr wrap="square" lIns="0" tIns="0" rIns="0" bIns="0" rtlCol="0" anchor="ctr"/>
          <a:lstStyle/>
          <a:p>
            <a:pPr marL="0" indent="0">
              <a:buNone/>
            </a:pPr>
            <a:r>
              <a:rPr lang="en-US" sz="2400" b="1" dirty="0">
                <a:solidFill>
                  <a:srgbClr val="5BC8F0"/>
                </a:solidFill>
                <a:latin typeface="Calibri" pitchFamily="34" charset="0"/>
                <a:ea typeface="Calibri" pitchFamily="34" charset="-122"/>
                <a:cs typeface="Calibri" pitchFamily="34" charset="-120"/>
              </a:rPr>
              <a:t>Libraries and Their Functions</a:t>
            </a:r>
            <a:endParaRPr lang="en-US" sz="2400" dirty="0"/>
          </a:p>
        </p:txBody>
      </p:sp>
      <p:sp>
        <p:nvSpPr>
          <p:cNvPr id="3" name="Text 1"/>
          <p:cNvSpPr txBox="1"/>
          <p:nvPr/>
        </p:nvSpPr>
        <p:spPr>
          <a:xfrm>
            <a:off x="640080" y="822960"/>
            <a:ext cx="10881360" cy="274320"/>
          </a:xfrm>
          <a:prstGeom prst="rect">
            <a:avLst/>
          </a:prstGeom>
          <a:noFill/>
          <a:ln/>
        </p:spPr>
        <p:txBody>
          <a:bodyPr wrap="square" lIns="0" tIns="0" rIns="0" bIns="0" rtlCol="0" anchor="ctr"/>
          <a:lstStyle/>
          <a:p>
            <a:pPr marL="0" indent="0">
              <a:buNone/>
            </a:pPr>
            <a:r>
              <a:rPr lang="en-US" sz="1300" dirty="0">
                <a:solidFill>
                  <a:srgbClr val="C9D3E0"/>
                </a:solidFill>
                <a:latin typeface="Calibri" pitchFamily="34" charset="0"/>
                <a:ea typeface="Calibri" pitchFamily="34" charset="-122"/>
                <a:cs typeface="Calibri" pitchFamily="34" charset="-120"/>
              </a:rPr>
              <a:t>A header file provides declarations for standard functions, classes, and utilities used by the program.</a:t>
            </a:r>
            <a:endParaRPr lang="en-US" sz="1300" dirty="0"/>
          </a:p>
        </p:txBody>
      </p:sp>
      <p:sp>
        <p:nvSpPr>
          <p:cNvPr id="4" name="Text 2"/>
          <p:cNvSpPr txBox="1"/>
          <p:nvPr/>
        </p:nvSpPr>
        <p:spPr>
          <a:xfrm>
            <a:off x="640080" y="1325880"/>
            <a:ext cx="10881360"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1. </a:t>
            </a:r>
            <a:r>
              <a:rPr lang="en-US" sz="1400" b="1" dirty="0">
                <a:solidFill>
                  <a:srgbClr val="F2C98A"/>
                </a:solidFill>
                <a:highlight>
                  <a:srgbClr val="2A3447"/>
                </a:highlight>
                <a:latin typeface="Consolas" pitchFamily="34" charset="0"/>
                <a:ea typeface="Consolas" pitchFamily="34" charset="-122"/>
                <a:cs typeface="Consolas" pitchFamily="34" charset="-120"/>
              </a:rPr>
              <a:t>&lt;algorithm&gt;</a:t>
            </a:r>
            <a:r>
              <a:rPr lang="en-US" sz="1400" b="1" dirty="0">
                <a:solidFill>
                  <a:srgbClr val="FFFFFF"/>
                </a:solidFill>
                <a:latin typeface="Calibri" pitchFamily="34" charset="0"/>
                <a:ea typeface="Calibri" pitchFamily="34" charset="-122"/>
                <a:cs typeface="Calibri" pitchFamily="34" charset="-120"/>
              </a:rPr>
              <a:t> — General Algorithms</a:t>
            </a:r>
            <a:endParaRPr lang="en-US" sz="1400" dirty="0"/>
          </a:p>
        </p:txBody>
      </p:sp>
      <p:sp>
        <p:nvSpPr>
          <p:cNvPr id="5" name="Text 3"/>
          <p:cNvSpPr txBox="1"/>
          <p:nvPr/>
        </p:nvSpPr>
        <p:spPr>
          <a:xfrm>
            <a:off x="640080" y="1600200"/>
            <a:ext cx="10881360" cy="420624"/>
          </a:xfrm>
          <a:prstGeom prst="rect">
            <a:avLst/>
          </a:prstGeom>
          <a:noFill/>
          <a:ln/>
        </p:spPr>
        <p:txBody>
          <a:bodyPr wrap="square" lIns="0" tIns="0" rIns="0" bIns="0" rtlCol="0" anchor="t"/>
          <a:lstStyle/>
          <a:p>
            <a:pPr marL="0" indent="0">
              <a:buNone/>
            </a:pPr>
            <a:r>
              <a:rPr lang="en-US" sz="1200" dirty="0">
                <a:solidFill>
                  <a:srgbClr val="C9D3E0"/>
                </a:solidFill>
                <a:latin typeface="Calibri" pitchFamily="34" charset="0"/>
                <a:ea typeface="Calibri" pitchFamily="34" charset="-122"/>
                <a:cs typeface="Calibri" pitchFamily="34" charset="-120"/>
              </a:rPr>
              <a:t>Provides utilities such as </a:t>
            </a:r>
            <a:r>
              <a:rPr lang="en-US" sz="1200" dirty="0">
                <a:solidFill>
                  <a:srgbClr val="F2C98A"/>
                </a:solidFill>
                <a:highlight>
                  <a:srgbClr val="2A3447"/>
                </a:highlight>
                <a:latin typeface="Consolas" pitchFamily="34" charset="0"/>
                <a:ea typeface="Consolas" pitchFamily="34" charset="-122"/>
                <a:cs typeface="Consolas" pitchFamily="34" charset="-120"/>
              </a:rPr>
              <a:t>max()</a:t>
            </a:r>
            <a:r>
              <a:rPr lang="en-US" sz="1200" dirty="0">
                <a:solidFill>
                  <a:srgbClr val="C9D3E0"/>
                </a:solidFill>
                <a:latin typeface="Calibri" pitchFamily="34" charset="0"/>
                <a:ea typeface="Calibri" pitchFamily="34" charset="-122"/>
                <a:cs typeface="Calibri" pitchFamily="34" charset="-120"/>
              </a:rPr>
              <a:t> and </a:t>
            </a:r>
            <a:r>
              <a:rPr lang="en-US" sz="1200" dirty="0">
                <a:solidFill>
                  <a:srgbClr val="F2C98A"/>
                </a:solidFill>
                <a:highlight>
                  <a:srgbClr val="2A3447"/>
                </a:highlight>
                <a:latin typeface="Consolas" pitchFamily="34" charset="0"/>
                <a:ea typeface="Consolas" pitchFamily="34" charset="-122"/>
                <a:cs typeface="Consolas" pitchFamily="34" charset="-120"/>
              </a:rPr>
              <a:t>min()</a:t>
            </a:r>
            <a:r>
              <a:rPr lang="en-US" sz="1200" dirty="0">
                <a:solidFill>
                  <a:srgbClr val="C9D3E0"/>
                </a:solidFill>
                <a:latin typeface="Calibri" pitchFamily="34" charset="0"/>
                <a:ea typeface="Calibri" pitchFamily="34" charset="-122"/>
                <a:cs typeface="Calibri" pitchFamily="34" charset="-120"/>
              </a:rPr>
              <a:t>. In this project, they help restrict the minimum and maximum delay values searched by the echo-detection algorithm.</a:t>
            </a:r>
            <a:endParaRPr lang="en-US" sz="1200" dirty="0"/>
          </a:p>
        </p:txBody>
      </p:sp>
      <p:sp>
        <p:nvSpPr>
          <p:cNvPr id="6" name="Text 4"/>
          <p:cNvSpPr txBox="1"/>
          <p:nvPr/>
        </p:nvSpPr>
        <p:spPr>
          <a:xfrm>
            <a:off x="640080" y="2093976"/>
            <a:ext cx="10881360"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 </a:t>
            </a:r>
            <a:r>
              <a:rPr lang="en-US" sz="1400" b="1" dirty="0">
                <a:solidFill>
                  <a:srgbClr val="F2C98A"/>
                </a:solidFill>
                <a:highlight>
                  <a:srgbClr val="2A3447"/>
                </a:highlight>
                <a:latin typeface="Consolas" pitchFamily="34" charset="0"/>
                <a:ea typeface="Consolas" pitchFamily="34" charset="-122"/>
                <a:cs typeface="Consolas" pitchFamily="34" charset="-120"/>
              </a:rPr>
              <a:t>&lt;cmath&gt;</a:t>
            </a:r>
            <a:r>
              <a:rPr lang="en-US" sz="1400" b="1" dirty="0">
                <a:solidFill>
                  <a:srgbClr val="FFFFFF"/>
                </a:solidFill>
                <a:latin typeface="Calibri" pitchFamily="34" charset="0"/>
                <a:ea typeface="Calibri" pitchFamily="34" charset="-122"/>
                <a:cs typeface="Calibri" pitchFamily="34" charset="-120"/>
              </a:rPr>
              <a:t> — Mathematical Functions</a:t>
            </a:r>
            <a:endParaRPr lang="en-US" sz="1400" dirty="0"/>
          </a:p>
        </p:txBody>
      </p:sp>
      <p:sp>
        <p:nvSpPr>
          <p:cNvPr id="7" name="Text 5"/>
          <p:cNvSpPr txBox="1"/>
          <p:nvPr/>
        </p:nvSpPr>
        <p:spPr>
          <a:xfrm>
            <a:off x="640080" y="2368296"/>
            <a:ext cx="10881360" cy="420624"/>
          </a:xfrm>
          <a:prstGeom prst="rect">
            <a:avLst/>
          </a:prstGeom>
          <a:noFill/>
          <a:ln/>
        </p:spPr>
        <p:txBody>
          <a:bodyPr wrap="square" lIns="0" tIns="0" rIns="0" bIns="0" rtlCol="0" anchor="t"/>
          <a:lstStyle/>
          <a:p>
            <a:pPr marL="0" indent="0">
              <a:buNone/>
            </a:pPr>
            <a:r>
              <a:rPr lang="en-US" sz="1200" dirty="0">
                <a:solidFill>
                  <a:srgbClr val="C9D3E0"/>
                </a:solidFill>
                <a:latin typeface="Calibri" pitchFamily="34" charset="0"/>
                <a:ea typeface="Calibri" pitchFamily="34" charset="-122"/>
                <a:cs typeface="Calibri" pitchFamily="34" charset="-120"/>
              </a:rPr>
              <a:t>Provides </a:t>
            </a:r>
            <a:r>
              <a:rPr lang="en-US" sz="1200" dirty="0">
                <a:solidFill>
                  <a:srgbClr val="F2C98A"/>
                </a:solidFill>
                <a:highlight>
                  <a:srgbClr val="2A3447"/>
                </a:highlight>
                <a:latin typeface="Consolas" pitchFamily="34" charset="0"/>
                <a:ea typeface="Consolas" pitchFamily="34" charset="-122"/>
                <a:cs typeface="Consolas" pitchFamily="34" charset="-120"/>
              </a:rPr>
              <a:t>sin()</a:t>
            </a:r>
            <a:r>
              <a:rPr lang="en-US" sz="1200" dirty="0">
                <a:solidFill>
                  <a:srgbClr val="C9D3E0"/>
                </a:solidFill>
                <a:latin typeface="Calibri" pitchFamily="34" charset="0"/>
                <a:ea typeface="Calibri" pitchFamily="34" charset="-122"/>
                <a:cs typeface="Calibri" pitchFamily="34" charset="-120"/>
              </a:rPr>
              <a:t>, </a:t>
            </a:r>
            <a:r>
              <a:rPr lang="en-US" sz="1200" dirty="0">
                <a:solidFill>
                  <a:srgbClr val="F2C98A"/>
                </a:solidFill>
                <a:highlight>
                  <a:srgbClr val="2A3447"/>
                </a:highlight>
                <a:latin typeface="Consolas" pitchFamily="34" charset="0"/>
                <a:ea typeface="Consolas" pitchFamily="34" charset="-122"/>
                <a:cs typeface="Consolas" pitchFamily="34" charset="-120"/>
              </a:rPr>
              <a:t>sqrt()</a:t>
            </a:r>
            <a:r>
              <a:rPr lang="en-US" sz="1200" dirty="0">
                <a:solidFill>
                  <a:srgbClr val="C9D3E0"/>
                </a:solidFill>
                <a:latin typeface="Calibri" pitchFamily="34" charset="0"/>
                <a:ea typeface="Calibri" pitchFamily="34" charset="-122"/>
                <a:cs typeface="Calibri" pitchFamily="34" charset="-120"/>
              </a:rPr>
              <a:t>, and mathematical operations. The project uses sine waves to generate the test signal and square roots to calculate the correlation denominator.</a:t>
            </a:r>
            <a:endParaRPr lang="en-US" sz="1200" dirty="0"/>
          </a:p>
        </p:txBody>
      </p:sp>
      <p:sp>
        <p:nvSpPr>
          <p:cNvPr id="8" name="Text 6"/>
          <p:cNvSpPr txBox="1"/>
          <p:nvPr/>
        </p:nvSpPr>
        <p:spPr>
          <a:xfrm>
            <a:off x="640080" y="2862072"/>
            <a:ext cx="10881360"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3. </a:t>
            </a:r>
            <a:r>
              <a:rPr lang="en-US" sz="1400" b="1" dirty="0">
                <a:solidFill>
                  <a:srgbClr val="F2C98A"/>
                </a:solidFill>
                <a:highlight>
                  <a:srgbClr val="2A3447"/>
                </a:highlight>
                <a:latin typeface="Consolas" pitchFamily="34" charset="0"/>
                <a:ea typeface="Consolas" pitchFamily="34" charset="-122"/>
                <a:cs typeface="Consolas" pitchFamily="34" charset="-120"/>
              </a:rPr>
              <a:t>&lt;iomanip&gt;</a:t>
            </a:r>
            <a:r>
              <a:rPr lang="en-US" sz="1400" b="1" dirty="0">
                <a:solidFill>
                  <a:srgbClr val="FFFFFF"/>
                </a:solidFill>
                <a:latin typeface="Calibri" pitchFamily="34" charset="0"/>
                <a:ea typeface="Calibri" pitchFamily="34" charset="-122"/>
                <a:cs typeface="Calibri" pitchFamily="34" charset="-120"/>
              </a:rPr>
              <a:t> — Output Formatting</a:t>
            </a:r>
            <a:endParaRPr lang="en-US" sz="1400" dirty="0"/>
          </a:p>
        </p:txBody>
      </p:sp>
      <p:sp>
        <p:nvSpPr>
          <p:cNvPr id="9" name="Text 7"/>
          <p:cNvSpPr txBox="1"/>
          <p:nvPr/>
        </p:nvSpPr>
        <p:spPr>
          <a:xfrm>
            <a:off x="640080" y="3136392"/>
            <a:ext cx="10881360" cy="420624"/>
          </a:xfrm>
          <a:prstGeom prst="rect">
            <a:avLst/>
          </a:prstGeom>
          <a:noFill/>
          <a:ln/>
        </p:spPr>
        <p:txBody>
          <a:bodyPr wrap="square" lIns="0" tIns="0" rIns="0" bIns="0" rtlCol="0" anchor="t"/>
          <a:lstStyle/>
          <a:p>
            <a:pPr marL="0" indent="0">
              <a:buNone/>
            </a:pPr>
            <a:r>
              <a:rPr lang="en-US" sz="1200" dirty="0">
                <a:solidFill>
                  <a:srgbClr val="C9D3E0"/>
                </a:solidFill>
                <a:latin typeface="Calibri" pitchFamily="34" charset="0"/>
                <a:ea typeface="Calibri" pitchFamily="34" charset="-122"/>
                <a:cs typeface="Calibri" pitchFamily="34" charset="-120"/>
              </a:rPr>
              <a:t>Provides formatting tools such as </a:t>
            </a:r>
            <a:r>
              <a:rPr lang="en-US" sz="1200" dirty="0">
                <a:solidFill>
                  <a:srgbClr val="F2C98A"/>
                </a:solidFill>
                <a:highlight>
                  <a:srgbClr val="2A3447"/>
                </a:highlight>
                <a:latin typeface="Consolas" pitchFamily="34" charset="0"/>
                <a:ea typeface="Consolas" pitchFamily="34" charset="-122"/>
                <a:cs typeface="Consolas" pitchFamily="34" charset="-120"/>
              </a:rPr>
              <a:t>setprecision()</a:t>
            </a:r>
            <a:r>
              <a:rPr lang="en-US" sz="1200" dirty="0">
                <a:solidFill>
                  <a:srgbClr val="C9D3E0"/>
                </a:solidFill>
                <a:latin typeface="Calibri" pitchFamily="34" charset="0"/>
                <a:ea typeface="Calibri" pitchFamily="34" charset="-122"/>
                <a:cs typeface="Calibri" pitchFamily="34" charset="-120"/>
              </a:rPr>
              <a:t> and </a:t>
            </a:r>
            <a:r>
              <a:rPr lang="en-US" sz="1200" dirty="0">
                <a:solidFill>
                  <a:srgbClr val="F2C98A"/>
                </a:solidFill>
                <a:highlight>
                  <a:srgbClr val="2A3447"/>
                </a:highlight>
                <a:latin typeface="Consolas" pitchFamily="34" charset="0"/>
                <a:ea typeface="Consolas" pitchFamily="34" charset="-122"/>
                <a:cs typeface="Consolas" pitchFamily="34" charset="-120"/>
              </a:rPr>
              <a:t>fixed</a:t>
            </a:r>
            <a:r>
              <a:rPr lang="en-US" sz="1200" dirty="0">
                <a:solidFill>
                  <a:srgbClr val="C9D3E0"/>
                </a:solidFill>
                <a:latin typeface="Calibri" pitchFamily="34" charset="0"/>
                <a:ea typeface="Calibri" pitchFamily="34" charset="-122"/>
                <a:cs typeface="Calibri" pitchFamily="34" charset="-120"/>
              </a:rPr>
              <a:t>, allowing numerical results to be displayed with four decimal places.</a:t>
            </a:r>
            <a:endParaRPr lang="en-US" sz="1200" dirty="0"/>
          </a:p>
        </p:txBody>
      </p:sp>
      <p:sp>
        <p:nvSpPr>
          <p:cNvPr id="10" name="Text 8"/>
          <p:cNvSpPr txBox="1"/>
          <p:nvPr/>
        </p:nvSpPr>
        <p:spPr>
          <a:xfrm>
            <a:off x="640080" y="3630168"/>
            <a:ext cx="10881360"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4. </a:t>
            </a:r>
            <a:r>
              <a:rPr lang="en-US" sz="1400" b="1" dirty="0">
                <a:solidFill>
                  <a:srgbClr val="F2C98A"/>
                </a:solidFill>
                <a:highlight>
                  <a:srgbClr val="2A3447"/>
                </a:highlight>
                <a:latin typeface="Consolas" pitchFamily="34" charset="0"/>
                <a:ea typeface="Consolas" pitchFamily="34" charset="-122"/>
                <a:cs typeface="Consolas" pitchFamily="34" charset="-120"/>
              </a:rPr>
              <a:t>&lt;iostream&gt;</a:t>
            </a:r>
            <a:r>
              <a:rPr lang="en-US" sz="1400" b="1" dirty="0">
                <a:solidFill>
                  <a:srgbClr val="FFFFFF"/>
                </a:solidFill>
                <a:latin typeface="Calibri" pitchFamily="34" charset="0"/>
                <a:ea typeface="Calibri" pitchFamily="34" charset="-122"/>
                <a:cs typeface="Calibri" pitchFamily="34" charset="-120"/>
              </a:rPr>
              <a:t> — Input and Output</a:t>
            </a:r>
            <a:endParaRPr lang="en-US" sz="1400" dirty="0"/>
          </a:p>
        </p:txBody>
      </p:sp>
      <p:sp>
        <p:nvSpPr>
          <p:cNvPr id="11" name="Text 9"/>
          <p:cNvSpPr txBox="1"/>
          <p:nvPr/>
        </p:nvSpPr>
        <p:spPr>
          <a:xfrm>
            <a:off x="640080" y="3904488"/>
            <a:ext cx="10881360" cy="420624"/>
          </a:xfrm>
          <a:prstGeom prst="rect">
            <a:avLst/>
          </a:prstGeom>
          <a:noFill/>
          <a:ln/>
        </p:spPr>
        <p:txBody>
          <a:bodyPr wrap="square" lIns="0" tIns="0" rIns="0" bIns="0" rtlCol="0" anchor="t"/>
          <a:lstStyle/>
          <a:p>
            <a:pPr marL="0" indent="0">
              <a:buNone/>
            </a:pPr>
            <a:r>
              <a:rPr lang="en-US" sz="1200" dirty="0">
                <a:solidFill>
                  <a:srgbClr val="C9D3E0"/>
                </a:solidFill>
                <a:latin typeface="Calibri" pitchFamily="34" charset="0"/>
                <a:ea typeface="Calibri" pitchFamily="34" charset="-122"/>
                <a:cs typeface="Calibri" pitchFamily="34" charset="-120"/>
              </a:rPr>
              <a:t>Provides </a:t>
            </a:r>
            <a:r>
              <a:rPr lang="en-US" sz="1200" dirty="0">
                <a:solidFill>
                  <a:srgbClr val="F2C98A"/>
                </a:solidFill>
                <a:highlight>
                  <a:srgbClr val="2A3447"/>
                </a:highlight>
                <a:latin typeface="Consolas" pitchFamily="34" charset="0"/>
                <a:ea typeface="Consolas" pitchFamily="34" charset="-122"/>
                <a:cs typeface="Consolas" pitchFamily="34" charset="-120"/>
              </a:rPr>
              <a:t>cout</a:t>
            </a:r>
            <a:r>
              <a:rPr lang="en-US" sz="1200" dirty="0">
                <a:solidFill>
                  <a:srgbClr val="C9D3E0"/>
                </a:solidFill>
                <a:latin typeface="Calibri" pitchFamily="34" charset="0"/>
                <a:ea typeface="Calibri" pitchFamily="34" charset="-122"/>
                <a:cs typeface="Calibri" pitchFamily="34" charset="-120"/>
              </a:rPr>
              <a:t> to display the signal settings, estimated echo delay, correlation score, and final result in the console.</a:t>
            </a:r>
            <a:endParaRPr lang="en-US" sz="1200" dirty="0"/>
          </a:p>
        </p:txBody>
      </p:sp>
      <p:sp>
        <p:nvSpPr>
          <p:cNvPr id="12" name="Text 10"/>
          <p:cNvSpPr txBox="1"/>
          <p:nvPr/>
        </p:nvSpPr>
        <p:spPr>
          <a:xfrm>
            <a:off x="640080" y="4398264"/>
            <a:ext cx="10881360"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5. </a:t>
            </a:r>
            <a:r>
              <a:rPr lang="en-US" sz="1400" b="1" dirty="0">
                <a:solidFill>
                  <a:srgbClr val="F2C98A"/>
                </a:solidFill>
                <a:highlight>
                  <a:srgbClr val="2A3447"/>
                </a:highlight>
                <a:latin typeface="Consolas" pitchFamily="34" charset="0"/>
                <a:ea typeface="Consolas" pitchFamily="34" charset="-122"/>
                <a:cs typeface="Consolas" pitchFamily="34" charset="-120"/>
              </a:rPr>
              <a:t>&lt;random&gt;</a:t>
            </a:r>
            <a:r>
              <a:rPr lang="en-US" sz="1400" b="1" dirty="0">
                <a:solidFill>
                  <a:srgbClr val="FFFFFF"/>
                </a:solidFill>
                <a:latin typeface="Calibri" pitchFamily="34" charset="0"/>
                <a:ea typeface="Calibri" pitchFamily="34" charset="-122"/>
                <a:cs typeface="Calibri" pitchFamily="34" charset="-120"/>
              </a:rPr>
              <a:t> — Random Number Generation</a:t>
            </a:r>
            <a:endParaRPr lang="en-US" sz="1400" dirty="0"/>
          </a:p>
        </p:txBody>
      </p:sp>
      <p:sp>
        <p:nvSpPr>
          <p:cNvPr id="13" name="Text 11"/>
          <p:cNvSpPr txBox="1"/>
          <p:nvPr/>
        </p:nvSpPr>
        <p:spPr>
          <a:xfrm>
            <a:off x="640080" y="4712529"/>
            <a:ext cx="10881360" cy="420624"/>
          </a:xfrm>
          <a:prstGeom prst="rect">
            <a:avLst/>
          </a:prstGeom>
          <a:noFill/>
          <a:ln/>
        </p:spPr>
        <p:txBody>
          <a:bodyPr wrap="square" lIns="0" tIns="0" rIns="0" bIns="0" rtlCol="0" anchor="t"/>
          <a:lstStyle/>
          <a:p>
            <a:pPr marL="0" indent="0">
              <a:buNone/>
            </a:pPr>
            <a:r>
              <a:rPr lang="en-US" sz="1200" dirty="0">
                <a:solidFill>
                  <a:srgbClr val="C9D3E0"/>
                </a:solidFill>
                <a:latin typeface="Calibri" pitchFamily="34" charset="0"/>
                <a:ea typeface="Calibri" pitchFamily="34" charset="-122"/>
                <a:cs typeface="Calibri" pitchFamily="34" charset="-120"/>
              </a:rPr>
              <a:t>Provides </a:t>
            </a:r>
            <a:r>
              <a:rPr lang="en-US" sz="1200" dirty="0">
                <a:solidFill>
                  <a:srgbClr val="F2C98A"/>
                </a:solidFill>
                <a:highlight>
                  <a:srgbClr val="2A3447"/>
                </a:highlight>
                <a:latin typeface="Consolas" pitchFamily="34" charset="0"/>
                <a:ea typeface="Consolas" pitchFamily="34" charset="-122"/>
                <a:cs typeface="Consolas" pitchFamily="34" charset="-120"/>
              </a:rPr>
              <a:t>mt19937</a:t>
            </a:r>
            <a:r>
              <a:rPr lang="en-US" sz="1200" dirty="0">
                <a:solidFill>
                  <a:srgbClr val="C9D3E0"/>
                </a:solidFill>
                <a:latin typeface="Calibri" pitchFamily="34" charset="0"/>
                <a:ea typeface="Calibri" pitchFamily="34" charset="-122"/>
                <a:cs typeface="Calibri" pitchFamily="34" charset="-120"/>
              </a:rPr>
              <a:t> and </a:t>
            </a:r>
            <a:r>
              <a:rPr lang="en-US" sz="1200" dirty="0">
                <a:solidFill>
                  <a:srgbClr val="F2C98A"/>
                </a:solidFill>
                <a:highlight>
                  <a:srgbClr val="2A3447"/>
                </a:highlight>
                <a:latin typeface="Consolas" pitchFamily="34" charset="0"/>
                <a:ea typeface="Consolas" pitchFamily="34" charset="-122"/>
                <a:cs typeface="Consolas" pitchFamily="34" charset="-120"/>
              </a:rPr>
              <a:t>normal_distribution</a:t>
            </a:r>
            <a:r>
              <a:rPr lang="en-US" sz="1200" dirty="0">
                <a:solidFill>
                  <a:srgbClr val="C9D3E0"/>
                </a:solidFill>
                <a:latin typeface="Calibri" pitchFamily="34" charset="0"/>
                <a:ea typeface="Calibri" pitchFamily="34" charset="-122"/>
                <a:cs typeface="Calibri" pitchFamily="34" charset="-120"/>
              </a:rPr>
              <a:t>. The project uses these to generate reproducible random noise for the simulated observed signal.</a:t>
            </a:r>
            <a:endParaRPr lang="en-US" sz="1200" dirty="0"/>
          </a:p>
        </p:txBody>
      </p:sp>
      <p:sp>
        <p:nvSpPr>
          <p:cNvPr id="14" name="Text 12"/>
          <p:cNvSpPr txBox="1"/>
          <p:nvPr/>
        </p:nvSpPr>
        <p:spPr>
          <a:xfrm>
            <a:off x="640080" y="5166360"/>
            <a:ext cx="10881360"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6. </a:t>
            </a:r>
            <a:r>
              <a:rPr lang="en-US" sz="1400" b="1" dirty="0">
                <a:solidFill>
                  <a:srgbClr val="F2C98A"/>
                </a:solidFill>
                <a:highlight>
                  <a:srgbClr val="2A3447"/>
                </a:highlight>
                <a:latin typeface="Consolas" pitchFamily="34" charset="0"/>
                <a:ea typeface="Consolas" pitchFamily="34" charset="-122"/>
                <a:cs typeface="Consolas" pitchFamily="34" charset="-120"/>
              </a:rPr>
              <a:t>&lt;string&gt;</a:t>
            </a:r>
            <a:r>
              <a:rPr lang="en-US" sz="1400" b="1" dirty="0">
                <a:solidFill>
                  <a:srgbClr val="FFFFFF"/>
                </a:solidFill>
                <a:latin typeface="Calibri" pitchFamily="34" charset="0"/>
                <a:ea typeface="Calibri" pitchFamily="34" charset="-122"/>
                <a:cs typeface="Calibri" pitchFamily="34" charset="-120"/>
              </a:rPr>
              <a:t> — Text Handling</a:t>
            </a:r>
            <a:endParaRPr lang="en-US" sz="1400" dirty="0"/>
          </a:p>
        </p:txBody>
      </p:sp>
      <p:sp>
        <p:nvSpPr>
          <p:cNvPr id="15" name="Text 13"/>
          <p:cNvSpPr txBox="1"/>
          <p:nvPr/>
        </p:nvSpPr>
        <p:spPr>
          <a:xfrm>
            <a:off x="640080" y="5440680"/>
            <a:ext cx="10881360" cy="420624"/>
          </a:xfrm>
          <a:prstGeom prst="rect">
            <a:avLst/>
          </a:prstGeom>
          <a:noFill/>
          <a:ln/>
        </p:spPr>
        <p:txBody>
          <a:bodyPr wrap="square" lIns="0" tIns="0" rIns="0" bIns="0" rtlCol="0" anchor="t"/>
          <a:lstStyle/>
          <a:p>
            <a:pPr marL="0" indent="0">
              <a:buNone/>
            </a:pPr>
            <a:r>
              <a:rPr lang="en-US" sz="1200" dirty="0">
                <a:solidFill>
                  <a:srgbClr val="C9D3E0"/>
                </a:solidFill>
                <a:latin typeface="Calibri" pitchFamily="34" charset="0"/>
                <a:ea typeface="Calibri" pitchFamily="34" charset="-122"/>
                <a:cs typeface="Calibri" pitchFamily="34" charset="-120"/>
              </a:rPr>
              <a:t>Provides the </a:t>
            </a:r>
            <a:r>
              <a:rPr lang="en-US" sz="1200" dirty="0">
                <a:solidFill>
                  <a:srgbClr val="F2C98A"/>
                </a:solidFill>
                <a:highlight>
                  <a:srgbClr val="2A3447"/>
                </a:highlight>
                <a:latin typeface="Consolas" pitchFamily="34" charset="0"/>
                <a:ea typeface="Consolas" pitchFamily="34" charset="-122"/>
                <a:cs typeface="Consolas" pitchFamily="34" charset="-120"/>
              </a:rPr>
              <a:t>string</a:t>
            </a:r>
            <a:r>
              <a:rPr lang="en-US" sz="1200" dirty="0">
                <a:solidFill>
                  <a:srgbClr val="C9D3E0"/>
                </a:solidFill>
                <a:latin typeface="Calibri" pitchFamily="34" charset="0"/>
                <a:ea typeface="Calibri" pitchFamily="34" charset="-122"/>
                <a:cs typeface="Calibri" pitchFamily="34" charset="-120"/>
              </a:rPr>
              <a:t> type for text data. The current source includes this header, although it does not explicitly use a </a:t>
            </a:r>
            <a:r>
              <a:rPr lang="en-US" sz="1200" dirty="0">
                <a:solidFill>
                  <a:srgbClr val="F2C98A"/>
                </a:solidFill>
                <a:highlight>
                  <a:srgbClr val="2A3447"/>
                </a:highlight>
                <a:latin typeface="Consolas" pitchFamily="34" charset="0"/>
                <a:ea typeface="Consolas" pitchFamily="34" charset="-122"/>
                <a:cs typeface="Consolas" pitchFamily="34" charset="-120"/>
              </a:rPr>
              <a:t>string</a:t>
            </a:r>
            <a:r>
              <a:rPr lang="en-US" sz="1200" dirty="0">
                <a:solidFill>
                  <a:srgbClr val="C9D3E0"/>
                </a:solidFill>
                <a:latin typeface="Calibri" pitchFamily="34" charset="0"/>
                <a:ea typeface="Calibri" pitchFamily="34" charset="-122"/>
                <a:cs typeface="Calibri" pitchFamily="34" charset="-120"/>
              </a:rPr>
              <a:t> variable.</a:t>
            </a:r>
            <a:endParaRPr lang="en-US" sz="1200" dirty="0"/>
          </a:p>
        </p:txBody>
      </p:sp>
      <p:sp>
        <p:nvSpPr>
          <p:cNvPr id="16" name="Text 14"/>
          <p:cNvSpPr txBox="1"/>
          <p:nvPr/>
        </p:nvSpPr>
        <p:spPr>
          <a:xfrm>
            <a:off x="640080" y="5934456"/>
            <a:ext cx="10881360"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7. </a:t>
            </a:r>
            <a:r>
              <a:rPr lang="en-US" sz="1400" b="1" dirty="0">
                <a:solidFill>
                  <a:srgbClr val="F2C98A"/>
                </a:solidFill>
                <a:highlight>
                  <a:srgbClr val="2A3447"/>
                </a:highlight>
                <a:latin typeface="Consolas" pitchFamily="34" charset="0"/>
                <a:ea typeface="Consolas" pitchFamily="34" charset="-122"/>
                <a:cs typeface="Consolas" pitchFamily="34" charset="-120"/>
              </a:rPr>
              <a:t>&lt;vector&gt;</a:t>
            </a:r>
            <a:r>
              <a:rPr lang="en-US" sz="1400" b="1" dirty="0">
                <a:solidFill>
                  <a:srgbClr val="FFFFFF"/>
                </a:solidFill>
                <a:latin typeface="Calibri" pitchFamily="34" charset="0"/>
                <a:ea typeface="Calibri" pitchFamily="34" charset="-122"/>
                <a:cs typeface="Calibri" pitchFamily="34" charset="-120"/>
              </a:rPr>
              <a:t> — Dynamic Arrays</a:t>
            </a:r>
            <a:endParaRPr lang="en-US" sz="1400" dirty="0"/>
          </a:p>
        </p:txBody>
      </p:sp>
      <p:sp>
        <p:nvSpPr>
          <p:cNvPr id="17" name="Text 15"/>
          <p:cNvSpPr txBox="1"/>
          <p:nvPr/>
        </p:nvSpPr>
        <p:spPr>
          <a:xfrm>
            <a:off x="640080" y="6208776"/>
            <a:ext cx="10881360" cy="420624"/>
          </a:xfrm>
          <a:prstGeom prst="rect">
            <a:avLst/>
          </a:prstGeom>
          <a:noFill/>
          <a:ln/>
        </p:spPr>
        <p:txBody>
          <a:bodyPr wrap="square" lIns="0" tIns="0" rIns="0" bIns="0" rtlCol="0" anchor="t"/>
          <a:lstStyle/>
          <a:p>
            <a:pPr marL="0" indent="0">
              <a:buNone/>
            </a:pPr>
            <a:r>
              <a:rPr lang="en-US" sz="1200" dirty="0">
                <a:solidFill>
                  <a:srgbClr val="C9D3E0"/>
                </a:solidFill>
                <a:latin typeface="Calibri" pitchFamily="34" charset="0"/>
                <a:ea typeface="Calibri" pitchFamily="34" charset="-122"/>
                <a:cs typeface="Calibri" pitchFamily="34" charset="-120"/>
              </a:rPr>
              <a:t>Provides </a:t>
            </a:r>
            <a:r>
              <a:rPr lang="en-US" sz="1200" dirty="0">
                <a:solidFill>
                  <a:srgbClr val="F2C98A"/>
                </a:solidFill>
                <a:highlight>
                  <a:srgbClr val="2A3447"/>
                </a:highlight>
                <a:latin typeface="Consolas" pitchFamily="34" charset="0"/>
                <a:ea typeface="Consolas" pitchFamily="34" charset="-122"/>
                <a:cs typeface="Consolas" pitchFamily="34" charset="-120"/>
              </a:rPr>
              <a:t>vector</a:t>
            </a:r>
            <a:r>
              <a:rPr lang="en-US" sz="1200" dirty="0">
                <a:solidFill>
                  <a:srgbClr val="C9D3E0"/>
                </a:solidFill>
                <a:latin typeface="Calibri" pitchFamily="34" charset="0"/>
                <a:ea typeface="Calibri" pitchFamily="34" charset="-122"/>
                <a:cs typeface="Calibri" pitchFamily="34" charset="-120"/>
              </a:rPr>
              <a:t>, which stores the original signal and the observed signal as sequences of numerical samples. It allows the program to create and process signals containing thousands of samples.</a:t>
            </a:r>
            <a:endParaRPr lang="en-US" sz="1200" dirty="0"/>
          </a:p>
        </p:txBody>
      </p:sp>
      <p:sp>
        <p:nvSpPr>
          <p:cNvPr id="19" name="Slide Number Placeholder 7"/>
          <p:cNvSpPr txBox="1">
            <a:spLocks/>
          </p:cNvSpPr>
          <p:nvPr/>
        </p:nvSpPr>
        <p:spPr>
          <a:xfrm>
            <a:off x="9664700" y="6218556"/>
            <a:ext cx="21336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1200" b="1" dirty="0" smtClean="0">
                <a:solidFill>
                  <a:srgbClr val="FFFF00"/>
                </a:solidFill>
              </a:rPr>
              <a:t>8</a:t>
            </a:r>
            <a:endParaRPr lang="en-US" sz="1200" b="1" dirty="0">
              <a:solidFill>
                <a:srgbClr val="FFFF00"/>
              </a:solidFill>
            </a:endParaRPr>
          </a:p>
        </p:txBody>
      </p:sp>
    </p:spTree>
    <p:extLst>
      <p:ext uri="{BB962C8B-B14F-4D97-AF65-F5344CB8AC3E}">
        <p14:creationId xmlns:p14="http://schemas.microsoft.com/office/powerpoint/2010/main" val="27092348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881360" cy="457200"/>
          </a:xfrm>
          <a:prstGeom prst="rect">
            <a:avLst/>
          </a:prstGeom>
          <a:noFill/>
          <a:ln/>
        </p:spPr>
        <p:txBody>
          <a:bodyPr wrap="square" lIns="0" tIns="0" rIns="0" bIns="0" rtlCol="0" anchor="ctr"/>
          <a:lstStyle/>
          <a:p>
            <a:pPr marL="0" indent="0">
              <a:buNone/>
            </a:pPr>
            <a:r>
              <a:rPr lang="en-US" sz="2400" b="1" dirty="0">
                <a:solidFill>
                  <a:srgbClr val="5BC8F0"/>
                </a:solidFill>
                <a:latin typeface="Calibri" pitchFamily="34" charset="0"/>
                <a:ea typeface="Calibri" pitchFamily="34" charset="-122"/>
                <a:cs typeface="Calibri" pitchFamily="34" charset="-120"/>
              </a:rPr>
              <a:t>Applications and Future Scope</a:t>
            </a:r>
            <a:endParaRPr lang="en-US" sz="2400" dirty="0"/>
          </a:p>
        </p:txBody>
      </p:sp>
      <p:sp>
        <p:nvSpPr>
          <p:cNvPr id="3" name="Text 1"/>
          <p:cNvSpPr txBox="1"/>
          <p:nvPr/>
        </p:nvSpPr>
        <p:spPr>
          <a:xfrm>
            <a:off x="640080" y="1005840"/>
            <a:ext cx="5303520" cy="4480560"/>
          </a:xfrm>
          <a:prstGeom prst="rect">
            <a:avLst/>
          </a:prstGeom>
          <a:noFill/>
          <a:ln/>
        </p:spPr>
        <p:txBody>
          <a:bodyPr wrap="square" lIns="0" tIns="0" rIns="0" bIns="0" rtlCol="0" anchor="t"/>
          <a:lstStyle/>
          <a:p>
            <a:pPr marL="0" indent="0">
              <a:spcAft>
                <a:spcPts val="400"/>
              </a:spcAft>
              <a:buNone/>
            </a:pPr>
            <a:r>
              <a:rPr lang="en-US" sz="1500" b="1" dirty="0">
                <a:solidFill>
                  <a:srgbClr val="FFFFFF"/>
                </a:solidFill>
                <a:latin typeface="Calibri" pitchFamily="34" charset="0"/>
                <a:ea typeface="Calibri" pitchFamily="34" charset="-122"/>
                <a:cs typeface="Calibri" pitchFamily="34" charset="-120"/>
              </a:rPr>
              <a:t>Current project capabilities</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Simulates a signal using a combination of sine waves at 440 Hz, 660 Hz, and 880 Hz.</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Adds a delayed copy with a configurable echo gain.</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Adds reproducible random noise.</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Searches for the most likely echo delay using normalized correlation.</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Reports the estimated delay, correlation score, and estimation error.</a:t>
            </a:r>
            <a:endParaRPr lang="en-US" sz="1500" dirty="0"/>
          </a:p>
          <a:p>
            <a:pPr marL="0" indent="0">
              <a:spcBef>
                <a:spcPts val="1400"/>
              </a:spcBef>
              <a:spcAft>
                <a:spcPts val="400"/>
              </a:spcAft>
              <a:buNone/>
            </a:pPr>
            <a:r>
              <a:rPr lang="en-US" sz="1500" b="1" dirty="0">
                <a:solidFill>
                  <a:srgbClr val="FFFFFF"/>
                </a:solidFill>
                <a:latin typeface="Calibri" pitchFamily="34" charset="0"/>
                <a:ea typeface="Calibri" pitchFamily="34" charset="-122"/>
                <a:cs typeface="Calibri" pitchFamily="34" charset="-120"/>
              </a:rPr>
              <a:t>Potential applications</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Learning digital signal processing concepts.</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Demonstrating signal correlation and time-delay estimation.</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Testing how noise affects echo detection.</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Understanding signal-processing algorithms before implementing them in real-time systems.</a:t>
            </a:r>
            <a:endParaRPr lang="en-US" sz="1500" dirty="0"/>
          </a:p>
        </p:txBody>
      </p:sp>
      <p:sp>
        <p:nvSpPr>
          <p:cNvPr id="4" name="Text 2"/>
          <p:cNvSpPr txBox="1"/>
          <p:nvPr/>
        </p:nvSpPr>
        <p:spPr>
          <a:xfrm>
            <a:off x="6309360" y="1005840"/>
            <a:ext cx="5212080" cy="4480560"/>
          </a:xfrm>
          <a:prstGeom prst="rect">
            <a:avLst/>
          </a:prstGeom>
          <a:noFill/>
          <a:ln/>
        </p:spPr>
        <p:txBody>
          <a:bodyPr wrap="square" lIns="0" tIns="0" rIns="0" bIns="0" rtlCol="0" anchor="t"/>
          <a:lstStyle/>
          <a:p>
            <a:pPr marL="0" indent="0">
              <a:spcAft>
                <a:spcPts val="400"/>
              </a:spcAft>
              <a:buNone/>
            </a:pPr>
            <a:r>
              <a:rPr lang="en-US" sz="1500" b="1" dirty="0">
                <a:solidFill>
                  <a:srgbClr val="FFFFFF"/>
                </a:solidFill>
                <a:latin typeface="Calibri" pitchFamily="34" charset="0"/>
                <a:ea typeface="Calibri" pitchFamily="34" charset="-122"/>
                <a:cs typeface="Calibri" pitchFamily="34" charset="-120"/>
              </a:rPr>
              <a:t>Current limitations</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Uses generated test signals rather than actual recorded audio.</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Does not process microphone or MP3 input.</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Its accuracy depends on the signal characteristics and selected search range.</a:t>
            </a:r>
            <a:endParaRPr lang="en-US" sz="1500" dirty="0"/>
          </a:p>
          <a:p>
            <a:pPr marL="0" indent="0">
              <a:spcBef>
                <a:spcPts val="1400"/>
              </a:spcBef>
              <a:spcAft>
                <a:spcPts val="400"/>
              </a:spcAft>
              <a:buNone/>
            </a:pPr>
            <a:r>
              <a:rPr lang="en-US" sz="1500" b="1" dirty="0">
                <a:solidFill>
                  <a:srgbClr val="FFFFFF"/>
                </a:solidFill>
                <a:latin typeface="Calibri" pitchFamily="34" charset="0"/>
                <a:ea typeface="Calibri" pitchFamily="34" charset="-122"/>
                <a:cs typeface="Calibri" pitchFamily="34" charset="-120"/>
              </a:rPr>
              <a:t>Future enhancements</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Add microphone or recorded-audio input.</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Display original and observed waveforms.</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Visualize the correlation score for different delays.</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Test different noise levels and echo strengths.</a:t>
            </a:r>
            <a:endParaRPr lang="en-US" sz="1500" dirty="0"/>
          </a:p>
          <a:p>
            <a:pPr marL="342900" indent="-342900">
              <a:spcAft>
                <a:spcPts val="300"/>
              </a:spcAft>
              <a:buSzPct val="100000"/>
              <a:buChar char="•"/>
            </a:pPr>
            <a:r>
              <a:rPr lang="en-US" sz="1300" dirty="0">
                <a:solidFill>
                  <a:srgbClr val="C9D3E0"/>
                </a:solidFill>
                <a:latin typeface="Calibri" pitchFamily="34" charset="0"/>
                <a:ea typeface="Calibri" pitchFamily="34" charset="-122"/>
                <a:cs typeface="Calibri" pitchFamily="34" charset="-120"/>
              </a:rPr>
              <a:t>Develop a graphical interface for easier experimentation.</a:t>
            </a:r>
            <a:endParaRPr lang="en-US" sz="1500" dirty="0"/>
          </a:p>
        </p:txBody>
      </p:sp>
      <p:sp>
        <p:nvSpPr>
          <p:cNvPr id="5" name="Shape 3"/>
          <p:cNvSpPr/>
          <p:nvPr/>
        </p:nvSpPr>
        <p:spPr>
          <a:xfrm>
            <a:off x="640080" y="5715000"/>
            <a:ext cx="10881360" cy="0"/>
          </a:xfrm>
          <a:prstGeom prst="line">
            <a:avLst/>
          </a:prstGeom>
          <a:noFill/>
          <a:ln w="12700">
            <a:solidFill>
              <a:srgbClr val="1F5F7A"/>
            </a:solidFill>
            <a:prstDash val="solid"/>
          </a:ln>
        </p:spPr>
      </p:sp>
      <p:sp>
        <p:nvSpPr>
          <p:cNvPr id="6" name="Text 4"/>
          <p:cNvSpPr txBox="1"/>
          <p:nvPr/>
        </p:nvSpPr>
        <p:spPr>
          <a:xfrm>
            <a:off x="640080" y="5852160"/>
            <a:ext cx="10881360" cy="548640"/>
          </a:xfrm>
          <a:prstGeom prst="rect">
            <a:avLst/>
          </a:prstGeom>
          <a:noFill/>
          <a:ln/>
        </p:spPr>
        <p:txBody>
          <a:bodyPr wrap="square" lIns="0" tIns="0" rIns="0" bIns="0" rtlCol="0" anchor="ctr"/>
          <a:lstStyle/>
          <a:p>
            <a:pPr marL="0" indent="0">
              <a:buNone/>
            </a:pPr>
            <a:r>
              <a:rPr lang="en-US" sz="1400" b="1" dirty="0">
                <a:solidFill>
                  <a:srgbClr val="5BC8F0"/>
                </a:solidFill>
                <a:latin typeface="Calibri" pitchFamily="34" charset="0"/>
                <a:ea typeface="Calibri" pitchFamily="34" charset="-122"/>
                <a:cs typeface="Calibri" pitchFamily="34" charset="-120"/>
              </a:rPr>
              <a:t>Conclusion: EchoDetective demonstrates how a C++ program can simulate an echo, introduce noise, and estimate the delay using a correlation-based method.</a:t>
            </a:r>
            <a:endParaRPr lang="en-US" sz="1400" dirty="0"/>
          </a:p>
        </p:txBody>
      </p:sp>
      <p:sp>
        <p:nvSpPr>
          <p:cNvPr id="8" name="Slide Number Placeholder 7"/>
          <p:cNvSpPr txBox="1">
            <a:spLocks/>
          </p:cNvSpPr>
          <p:nvPr/>
        </p:nvSpPr>
        <p:spPr>
          <a:xfrm>
            <a:off x="9664700" y="6218556"/>
            <a:ext cx="21336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1200" b="1" dirty="0" smtClean="0">
                <a:solidFill>
                  <a:srgbClr val="FFFF00"/>
                </a:solidFill>
              </a:rPr>
              <a:t>9</a:t>
            </a:r>
            <a:endParaRPr lang="en-US" sz="1200" b="1" dirty="0">
              <a:solidFill>
                <a:srgbClr val="FFFF00"/>
              </a:solidFill>
            </a:endParaRPr>
          </a:p>
        </p:txBody>
      </p:sp>
    </p:spTree>
    <p:extLst>
      <p:ext uri="{BB962C8B-B14F-4D97-AF65-F5344CB8AC3E}">
        <p14:creationId xmlns:p14="http://schemas.microsoft.com/office/powerpoint/2010/main" val="16360432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881360" cy="457200"/>
          </a:xfrm>
          <a:prstGeom prst="rect">
            <a:avLst/>
          </a:prstGeom>
          <a:noFill/>
          <a:ln/>
        </p:spPr>
        <p:txBody>
          <a:bodyPr wrap="square" lIns="0" tIns="0" rIns="0" bIns="0" rtlCol="0" anchor="ctr"/>
          <a:lstStyle/>
          <a:p>
            <a:pPr marL="0" indent="0" algn="ctr">
              <a:buNone/>
            </a:pPr>
            <a:r>
              <a:rPr lang="en-US" sz="2400" b="1" dirty="0" smtClean="0">
                <a:solidFill>
                  <a:srgbClr val="5BC8F0"/>
                </a:solidFill>
                <a:latin typeface="Calibri" pitchFamily="34" charset="0"/>
                <a:cs typeface="Calibri" pitchFamily="34" charset="-120"/>
              </a:rPr>
              <a:t>Output </a:t>
            </a:r>
            <a:endParaRPr lang="en-US" sz="2400" dirty="0"/>
          </a:p>
        </p:txBody>
      </p:sp>
      <p:sp>
        <p:nvSpPr>
          <p:cNvPr id="5" name="Shape 3"/>
          <p:cNvSpPr/>
          <p:nvPr/>
        </p:nvSpPr>
        <p:spPr>
          <a:xfrm>
            <a:off x="640080" y="5715000"/>
            <a:ext cx="10881360" cy="0"/>
          </a:xfrm>
          <a:prstGeom prst="line">
            <a:avLst/>
          </a:prstGeom>
          <a:noFill/>
          <a:ln w="12700">
            <a:solidFill>
              <a:srgbClr val="1F5F7A"/>
            </a:solidFill>
            <a:prstDash val="solid"/>
          </a:ln>
        </p:spPr>
      </p:sp>
      <p:pic>
        <p:nvPicPr>
          <p:cNvPr id="7" name="Picture 6"/>
          <p:cNvPicPr>
            <a:picLocks noChangeAspect="1"/>
          </p:cNvPicPr>
          <p:nvPr/>
        </p:nvPicPr>
        <p:blipFill>
          <a:blip r:embed="rId3"/>
          <a:stretch>
            <a:fillRect/>
          </a:stretch>
        </p:blipFill>
        <p:spPr>
          <a:xfrm>
            <a:off x="1219200" y="962527"/>
            <a:ext cx="10302240" cy="4636168"/>
          </a:xfrm>
          <a:prstGeom prst="rect">
            <a:avLst/>
          </a:prstGeom>
        </p:spPr>
      </p:pic>
      <p:sp>
        <p:nvSpPr>
          <p:cNvPr id="6" name="Slide Number Placeholder 7"/>
          <p:cNvSpPr txBox="1">
            <a:spLocks/>
          </p:cNvSpPr>
          <p:nvPr/>
        </p:nvSpPr>
        <p:spPr>
          <a:xfrm>
            <a:off x="9664700" y="6218556"/>
            <a:ext cx="21336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1200" b="1" dirty="0" smtClean="0">
                <a:solidFill>
                  <a:srgbClr val="FFFF00"/>
                </a:solidFill>
              </a:rPr>
              <a:t>10</a:t>
            </a:r>
            <a:endParaRPr lang="en-US" sz="1200" b="1" dirty="0">
              <a:solidFill>
                <a:srgbClr val="FFFF00"/>
              </a:solidFill>
            </a:endParaRPr>
          </a:p>
        </p:txBody>
      </p:sp>
    </p:spTree>
    <p:extLst>
      <p:ext uri="{BB962C8B-B14F-4D97-AF65-F5344CB8AC3E}">
        <p14:creationId xmlns:p14="http://schemas.microsoft.com/office/powerpoint/2010/main" val="9948502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10881360" cy="457200"/>
          </a:xfrm>
          <a:prstGeom prst="rect">
            <a:avLst/>
          </a:prstGeom>
          <a:noFill/>
          <a:ln/>
        </p:spPr>
        <p:txBody>
          <a:bodyPr wrap="square" lIns="0" tIns="0" rIns="0" bIns="0" rtlCol="0" anchor="ctr"/>
          <a:lstStyle/>
          <a:p>
            <a:pPr marL="0" indent="0" algn="ctr">
              <a:buNone/>
            </a:pPr>
            <a:r>
              <a:rPr lang="en-US" sz="2400" b="1" dirty="0" smtClean="0">
                <a:solidFill>
                  <a:srgbClr val="5BC8F0"/>
                </a:solidFill>
                <a:latin typeface="Calibri" pitchFamily="34" charset="0"/>
                <a:cs typeface="Calibri" pitchFamily="34" charset="-120"/>
              </a:rPr>
              <a:t>References </a:t>
            </a:r>
            <a:endParaRPr lang="en-US" sz="2400" dirty="0"/>
          </a:p>
        </p:txBody>
      </p:sp>
      <p:sp>
        <p:nvSpPr>
          <p:cNvPr id="5" name="Shape 3"/>
          <p:cNvSpPr/>
          <p:nvPr/>
        </p:nvSpPr>
        <p:spPr>
          <a:xfrm>
            <a:off x="640080" y="5715000"/>
            <a:ext cx="10881360" cy="0"/>
          </a:xfrm>
          <a:prstGeom prst="line">
            <a:avLst/>
          </a:prstGeom>
          <a:noFill/>
          <a:ln w="12700">
            <a:solidFill>
              <a:srgbClr val="1F5F7A"/>
            </a:solidFill>
            <a:prstDash val="solid"/>
          </a:ln>
        </p:spPr>
      </p:sp>
      <p:sp>
        <p:nvSpPr>
          <p:cNvPr id="3" name="TextBox 2"/>
          <p:cNvSpPr txBox="1"/>
          <p:nvPr/>
        </p:nvSpPr>
        <p:spPr>
          <a:xfrm>
            <a:off x="1052945" y="1288473"/>
            <a:ext cx="10349346" cy="3693319"/>
          </a:xfrm>
          <a:prstGeom prst="rect">
            <a:avLst/>
          </a:prstGeom>
          <a:noFill/>
        </p:spPr>
        <p:txBody>
          <a:bodyPr wrap="square" rtlCol="0">
            <a:spAutoFit/>
          </a:bodyPr>
          <a:lstStyle/>
          <a:p>
            <a:pPr marL="342900" indent="-342900" algn="just">
              <a:buFont typeface="+mj-lt"/>
              <a:buAutoNum type="arabicPeriod"/>
            </a:pPr>
            <a:r>
              <a:rPr lang="en-US" dirty="0" smtClean="0">
                <a:solidFill>
                  <a:schemeClr val="bg1"/>
                </a:solidFill>
              </a:rPr>
              <a:t> </a:t>
            </a:r>
            <a:r>
              <a:rPr lang="en-US" dirty="0">
                <a:solidFill>
                  <a:schemeClr val="bg1"/>
                </a:solidFill>
              </a:rPr>
              <a:t>Oppenheim, A. V., and Schafer, R. W. Discrete-Time Signal Processing, 3rd Edition, Prentice Hall, 2010. — Reference for discrete-time signals and signal-processing concepts. </a:t>
            </a:r>
            <a:endParaRPr lang="en-US" dirty="0" smtClean="0">
              <a:solidFill>
                <a:schemeClr val="bg1"/>
              </a:solidFill>
            </a:endParaRPr>
          </a:p>
          <a:p>
            <a:pPr marL="342900" indent="-342900" algn="just">
              <a:buFont typeface="+mj-lt"/>
              <a:buAutoNum type="arabicPeriod"/>
            </a:pPr>
            <a:endParaRPr lang="en-US" dirty="0" smtClean="0">
              <a:solidFill>
                <a:schemeClr val="bg1"/>
              </a:solidFill>
            </a:endParaRPr>
          </a:p>
          <a:p>
            <a:pPr marL="342900" lvl="0" indent="-342900" algn="just">
              <a:buFont typeface="+mj-lt"/>
              <a:buAutoNum type="arabicPeriod"/>
            </a:pPr>
            <a:r>
              <a:rPr lang="en-US" altLang="en-US" dirty="0" smtClean="0">
                <a:solidFill>
                  <a:schemeClr val="bg1"/>
                </a:solidFill>
                <a:latin typeface="Arial" panose="020B0604020202020204" pitchFamily="34" charset="0"/>
              </a:rPr>
              <a:t>  E</a:t>
            </a:r>
            <a:r>
              <a:rPr lang="en-US" altLang="en-US" dirty="0">
                <a:solidFill>
                  <a:schemeClr val="bg1"/>
                </a:solidFill>
                <a:latin typeface="Arial" panose="020B0604020202020204" pitchFamily="34" charset="0"/>
              </a:rPr>
              <a:t>. </a:t>
            </a:r>
            <a:r>
              <a:rPr lang="en-US" altLang="en-US" dirty="0" err="1">
                <a:solidFill>
                  <a:schemeClr val="bg1"/>
                </a:solidFill>
                <a:latin typeface="Arial" panose="020B0604020202020204" pitchFamily="34" charset="0"/>
              </a:rPr>
              <a:t>Balagurusamy</a:t>
            </a:r>
            <a:r>
              <a:rPr lang="en-US" altLang="en-US" dirty="0">
                <a:solidFill>
                  <a:schemeClr val="bg1"/>
                </a:solidFill>
                <a:latin typeface="Arial" panose="020B0604020202020204" pitchFamily="34" charset="0"/>
              </a:rPr>
              <a:t>, Object Oriented Programming with C++, McGraw Hill Education. </a:t>
            </a:r>
          </a:p>
          <a:p>
            <a:pPr algn="just"/>
            <a:r>
              <a:rPr lang="en-US" dirty="0">
                <a:solidFill>
                  <a:schemeClr val="bg1"/>
                </a:solidFill>
              </a:rPr>
              <a:t>	</a:t>
            </a:r>
            <a:r>
              <a:rPr lang="en-US" dirty="0" smtClean="0">
                <a:solidFill>
                  <a:schemeClr val="bg1"/>
                </a:solidFill>
              </a:rPr>
              <a:t>Here </a:t>
            </a:r>
            <a:r>
              <a:rPr lang="en-US" dirty="0">
                <a:solidFill>
                  <a:schemeClr val="bg1"/>
                </a:solidFill>
              </a:rPr>
              <a:t>is the official publisher page: </a:t>
            </a:r>
            <a:r>
              <a:rPr lang="en-US" dirty="0">
                <a:solidFill>
                  <a:schemeClr val="bg1"/>
                </a:solidFill>
                <a:hlinkClick r:id="rId3"/>
              </a:rPr>
              <a:t>McGraw Hill Education — Object Oriented Programming with C</a:t>
            </a:r>
            <a:r>
              <a:rPr lang="en-US" dirty="0" smtClean="0">
                <a:solidFill>
                  <a:schemeClr val="bg1"/>
                </a:solidFill>
                <a:hlinkClick r:id="rId3"/>
              </a:rPr>
              <a:t>++</a:t>
            </a:r>
            <a:r>
              <a:rPr lang="en-US" dirty="0" smtClean="0">
                <a:solidFill>
                  <a:schemeClr val="bg1"/>
                </a:solidFill>
              </a:rPr>
              <a:t>.	Use </a:t>
            </a:r>
            <a:r>
              <a:rPr lang="en-US" dirty="0">
                <a:solidFill>
                  <a:schemeClr val="bg1"/>
                </a:solidFill>
              </a:rPr>
              <a:t>the edition that matches the book you have; you don't need to mention an edition or </a:t>
            </a:r>
            <a:r>
              <a:rPr lang="en-US" dirty="0" smtClean="0">
                <a:solidFill>
                  <a:schemeClr val="bg1"/>
                </a:solidFill>
              </a:rPr>
              <a:t>	publication </a:t>
            </a:r>
            <a:r>
              <a:rPr lang="en-US" dirty="0">
                <a:solidFill>
                  <a:schemeClr val="bg1"/>
                </a:solidFill>
              </a:rPr>
              <a:t>year if you're unsure</a:t>
            </a:r>
            <a:r>
              <a:rPr lang="en-US" dirty="0" smtClean="0">
                <a:solidFill>
                  <a:schemeClr val="bg1"/>
                </a:solidFill>
              </a:rPr>
              <a:t>.</a:t>
            </a:r>
            <a:endParaRPr lang="en-US" dirty="0">
              <a:solidFill>
                <a:schemeClr val="bg1"/>
              </a:solidFill>
            </a:endParaRPr>
          </a:p>
          <a:p>
            <a:endParaRPr lang="en-US" dirty="0"/>
          </a:p>
          <a:p>
            <a:pPr algn="just"/>
            <a:r>
              <a:rPr lang="en-US" altLang="en-US" dirty="0">
                <a:solidFill>
                  <a:schemeClr val="bg1"/>
                </a:solidFill>
                <a:latin typeface="Arial" panose="020B0604020202020204" pitchFamily="34" charset="0"/>
              </a:rPr>
              <a:t>3. </a:t>
            </a:r>
            <a:r>
              <a:rPr lang="en-US" altLang="en-US" dirty="0" smtClean="0">
                <a:solidFill>
                  <a:schemeClr val="bg1"/>
                </a:solidFill>
                <a:latin typeface="Arial" panose="020B0604020202020204" pitchFamily="34" charset="0"/>
              </a:rPr>
              <a:t> cppreference.com </a:t>
            </a:r>
            <a:r>
              <a:rPr lang="en-US" altLang="en-US" dirty="0">
                <a:solidFill>
                  <a:schemeClr val="bg1"/>
                </a:solidFill>
                <a:latin typeface="Arial" panose="020B0604020202020204" pitchFamily="34" charset="0"/>
              </a:rPr>
              <a:t>— C++ Standard Library. Documentation for </a:t>
            </a:r>
            <a:r>
              <a:rPr lang="en-US" altLang="en-US" sz="1000" dirty="0" err="1">
                <a:solidFill>
                  <a:schemeClr val="bg1"/>
                </a:solidFill>
                <a:latin typeface="Arial Unicode MS"/>
              </a:rPr>
              <a:t>std</a:t>
            </a:r>
            <a:r>
              <a:rPr lang="en-US" altLang="en-US" sz="1000" dirty="0">
                <a:solidFill>
                  <a:schemeClr val="bg1"/>
                </a:solidFill>
                <a:latin typeface="Arial Unicode MS"/>
              </a:rPr>
              <a:t>::vector</a:t>
            </a:r>
            <a:r>
              <a:rPr lang="en-US" altLang="en-US" sz="1100" dirty="0">
                <a:solidFill>
                  <a:schemeClr val="bg1"/>
                </a:solidFill>
              </a:rPr>
              <a:t>, </a:t>
            </a:r>
            <a:r>
              <a:rPr lang="en-US" altLang="en-US" dirty="0">
                <a:solidFill>
                  <a:schemeClr val="bg1"/>
                </a:solidFill>
                <a:latin typeface="Arial" panose="020B0604020202020204" pitchFamily="34" charset="0"/>
              </a:rPr>
              <a:t>mathematical functions, </a:t>
            </a:r>
            <a:r>
              <a:rPr lang="en-US" altLang="en-US" dirty="0" smtClean="0">
                <a:solidFill>
                  <a:schemeClr val="bg1"/>
                </a:solidFill>
                <a:latin typeface="Arial" panose="020B0604020202020204" pitchFamily="34" charset="0"/>
              </a:rPr>
              <a:t>     	random-number </a:t>
            </a:r>
            <a:r>
              <a:rPr lang="en-US" altLang="en-US" dirty="0">
                <a:solidFill>
                  <a:schemeClr val="bg1"/>
                </a:solidFill>
                <a:latin typeface="Arial" panose="020B0604020202020204" pitchFamily="34" charset="0"/>
              </a:rPr>
              <a:t>generation, and input/output.</a:t>
            </a:r>
            <a:endParaRPr lang="en-US" dirty="0" smtClean="0">
              <a:solidFill>
                <a:schemeClr val="bg1"/>
              </a:solidFill>
            </a:endParaRPr>
          </a:p>
          <a:p>
            <a:endParaRPr lang="en-US" dirty="0"/>
          </a:p>
          <a:p>
            <a:endParaRPr lang="en-US" dirty="0" smtClean="0"/>
          </a:p>
          <a:p>
            <a:endParaRPr lang="en-IN" dirty="0"/>
          </a:p>
        </p:txBody>
      </p:sp>
      <p:sp>
        <p:nvSpPr>
          <p:cNvPr id="14" name="Rectangle 11"/>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
        <p:nvSpPr>
          <p:cNvPr id="18" name="Slide Number Placeholder 7"/>
          <p:cNvSpPr txBox="1">
            <a:spLocks/>
          </p:cNvSpPr>
          <p:nvPr/>
        </p:nvSpPr>
        <p:spPr>
          <a:xfrm>
            <a:off x="9664700" y="6218556"/>
            <a:ext cx="21336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1200" b="1" smtClean="0">
                <a:solidFill>
                  <a:srgbClr val="FFFF00"/>
                </a:solidFill>
              </a:rPr>
              <a:t>11</a:t>
            </a:r>
          </a:p>
          <a:p>
            <a:pPr algn="r"/>
            <a:endParaRPr lang="en-US" sz="1200" b="1" dirty="0">
              <a:solidFill>
                <a:srgbClr val="FFFF00"/>
              </a:solidFill>
            </a:endParaRPr>
          </a:p>
        </p:txBody>
      </p:sp>
    </p:spTree>
    <p:extLst>
      <p:ext uri="{BB962C8B-B14F-4D97-AF65-F5344CB8AC3E}">
        <p14:creationId xmlns:p14="http://schemas.microsoft.com/office/powerpoint/2010/main" val="19702295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Rectangle 1"/>
          <p:cNvSpPr/>
          <p:nvPr/>
        </p:nvSpPr>
        <p:spPr>
          <a:xfrm>
            <a:off x="2822" y="0"/>
            <a:ext cx="12186053" cy="0"/>
          </a:xfrm>
          <a:prstGeom prst="rect">
            <a:avLst/>
          </a:prstGeom>
          <a:solidFill>
            <a:srgbClr val="021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sp>
        <p:nvSpPr>
          <p:cNvPr id="3" name="Rectangle 2"/>
          <p:cNvSpPr/>
          <p:nvPr/>
        </p:nvSpPr>
        <p:spPr>
          <a:xfrm>
            <a:off x="5742596" y="0"/>
            <a:ext cx="6446279" cy="0"/>
          </a:xfrm>
          <a:prstGeom prst="rect">
            <a:avLst/>
          </a:prstGeom>
          <a:solidFill>
            <a:srgbClr val="031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cxnSp>
        <p:nvCxnSpPr>
          <p:cNvPr id="4" name="Connector 3"/>
          <p:cNvCxnSpPr/>
          <p:nvPr/>
        </p:nvCxnSpPr>
        <p:spPr>
          <a:xfrm>
            <a:off x="6035068" y="0"/>
            <a:ext cx="0"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528616" y="0"/>
            <a:ext cx="0"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022163" y="0"/>
            <a:ext cx="0"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515710" y="0"/>
            <a:ext cx="0"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009258" y="0"/>
            <a:ext cx="0"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502806" y="0"/>
            <a:ext cx="0"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996353" y="0"/>
            <a:ext cx="0"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89901" y="0"/>
            <a:ext cx="0"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3448" y="0"/>
            <a:ext cx="0"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476996" y="0"/>
            <a:ext cx="0"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0543" y="0"/>
            <a:ext cx="0"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464091" y="0"/>
            <a:ext cx="0"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957638" y="0"/>
            <a:ext cx="0"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742596" y="155377"/>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742596" y="475268"/>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742596" y="795160"/>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742596" y="1115051"/>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742596" y="1434943"/>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742596" y="1754836"/>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742596" y="2074727"/>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742596" y="2394619"/>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742596" y="2714512"/>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742596" y="3034404"/>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742596" y="3354296"/>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742596" y="3674186"/>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742596" y="3994078"/>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742596" y="4313971"/>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742596" y="4633862"/>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42596" y="4953755"/>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42596" y="5273647"/>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742596" y="5593538"/>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742596" y="5913431"/>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742596" y="6233322"/>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742596" y="6553215"/>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742596" y="7192997"/>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742596" y="7512889"/>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742596" y="7832781"/>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742596" y="8152674"/>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742596" y="8472566"/>
            <a:ext cx="6342999" cy="0"/>
          </a:xfrm>
          <a:prstGeom prst="line">
            <a:avLst/>
          </a:prstGeom>
          <a:ln w="6985">
            <a:solidFill>
              <a:srgbClr val="003A5B"/>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2821" y="0"/>
            <a:ext cx="73118" cy="0"/>
          </a:xfrm>
          <a:prstGeom prst="rect">
            <a:avLst/>
          </a:prstGeom>
          <a:solidFill>
            <a:srgbClr val="00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sp>
        <p:nvSpPr>
          <p:cNvPr id="45" name="Rectangle 44"/>
          <p:cNvSpPr/>
          <p:nvPr/>
        </p:nvSpPr>
        <p:spPr>
          <a:xfrm>
            <a:off x="185616" y="0"/>
            <a:ext cx="1233869" cy="54839"/>
          </a:xfrm>
          <a:prstGeom prst="rect">
            <a:avLst/>
          </a:prstGeom>
          <a:solidFill>
            <a:srgbClr val="00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sp>
        <p:nvSpPr>
          <p:cNvPr id="46" name="Parallelogram 45"/>
          <p:cNvSpPr/>
          <p:nvPr/>
        </p:nvSpPr>
        <p:spPr>
          <a:xfrm>
            <a:off x="48520" y="1"/>
            <a:ext cx="959676" cy="109677"/>
          </a:xfrm>
          <a:prstGeom prst="parallelogram">
            <a:avLst/>
          </a:prstGeom>
          <a:solidFill>
            <a:srgbClr val="009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sp>
        <p:nvSpPr>
          <p:cNvPr id="47" name="TextBox 46"/>
          <p:cNvSpPr txBox="1"/>
          <p:nvPr/>
        </p:nvSpPr>
        <p:spPr>
          <a:xfrm>
            <a:off x="843680" y="2356100"/>
            <a:ext cx="3720323" cy="753383"/>
          </a:xfrm>
          <a:prstGeom prst="rect">
            <a:avLst/>
          </a:prstGeom>
          <a:noFill/>
        </p:spPr>
        <p:txBody>
          <a:bodyPr wrap="none" lIns="0" tIns="0" rIns="0" bIns="0" anchor="ctr">
            <a:spAutoFit/>
          </a:bodyPr>
          <a:lstStyle/>
          <a:p>
            <a:pPr algn="l"/>
            <a:r>
              <a:rPr sz="4898" b="1">
                <a:solidFill>
                  <a:srgbClr val="F8FAFF"/>
                </a:solidFill>
                <a:latin typeface="Aptos Display"/>
              </a:rPr>
              <a:t>THANK YOU</a:t>
            </a:r>
          </a:p>
        </p:txBody>
      </p:sp>
      <p:cxnSp>
        <p:nvCxnSpPr>
          <p:cNvPr id="48" name="Connector 47"/>
          <p:cNvCxnSpPr/>
          <p:nvPr/>
        </p:nvCxnSpPr>
        <p:spPr>
          <a:xfrm>
            <a:off x="843680" y="3409134"/>
            <a:ext cx="4259132" cy="0"/>
          </a:xfrm>
          <a:prstGeom prst="line">
            <a:avLst/>
          </a:prstGeom>
          <a:ln w="2032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521632" y="3445693"/>
            <a:ext cx="639784" cy="0"/>
          </a:xfrm>
          <a:prstGeom prst="line">
            <a:avLst/>
          </a:prstGeom>
          <a:ln w="15240">
            <a:solidFill>
              <a:srgbClr val="0091E6"/>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843680" y="3661098"/>
            <a:ext cx="4292458" cy="199834"/>
          </a:xfrm>
          <a:prstGeom prst="rect">
            <a:avLst/>
          </a:prstGeom>
          <a:noFill/>
        </p:spPr>
        <p:txBody>
          <a:bodyPr wrap="none" lIns="0" tIns="0" rIns="0" bIns="0" anchor="ctr">
            <a:spAutoFit/>
          </a:bodyPr>
          <a:lstStyle/>
          <a:p>
            <a:pPr algn="l"/>
            <a:r>
              <a:rPr sz="1299">
                <a:solidFill>
                  <a:srgbClr val="00DCF5"/>
                </a:solidFill>
                <a:latin typeface="Consolas"/>
              </a:rPr>
              <a:t>ECHO DETECTIVE  |  C++ ECHO DETECTION SIMULATOR</a:t>
            </a:r>
          </a:p>
        </p:txBody>
      </p:sp>
      <p:cxnSp>
        <p:nvCxnSpPr>
          <p:cNvPr id="51" name="Connector 50"/>
          <p:cNvCxnSpPr/>
          <p:nvPr/>
        </p:nvCxnSpPr>
        <p:spPr>
          <a:xfrm>
            <a:off x="386691" y="6242462"/>
            <a:ext cx="456988" cy="0"/>
          </a:xfrm>
          <a:prstGeom prst="line">
            <a:avLst/>
          </a:prstGeom>
          <a:ln w="13970">
            <a:solidFill>
              <a:srgbClr val="4ACDF5"/>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1026475" y="6168516"/>
            <a:ext cx="849199" cy="184453"/>
          </a:xfrm>
          <a:prstGeom prst="rect">
            <a:avLst/>
          </a:prstGeom>
          <a:noFill/>
        </p:spPr>
        <p:txBody>
          <a:bodyPr wrap="none" lIns="0" tIns="0" rIns="0" bIns="0" anchor="ctr">
            <a:spAutoFit/>
          </a:bodyPr>
          <a:lstStyle/>
          <a:p>
            <a:pPr algn="l"/>
            <a:r>
              <a:rPr sz="1199" dirty="0">
                <a:solidFill>
                  <a:srgbClr val="4ACDF5"/>
                </a:solidFill>
                <a:latin typeface="Consolas"/>
              </a:rPr>
              <a:t>QUESTIONS?</a:t>
            </a:r>
          </a:p>
        </p:txBody>
      </p:sp>
      <p:sp>
        <p:nvSpPr>
          <p:cNvPr id="54" name="Rounded Rectangle 53"/>
          <p:cNvSpPr/>
          <p:nvPr/>
        </p:nvSpPr>
        <p:spPr>
          <a:xfrm>
            <a:off x="7972699" y="1873652"/>
            <a:ext cx="3509671" cy="3363435"/>
          </a:xfrm>
          <a:prstGeom prst="roundRect">
            <a:avLst>
              <a:gd name="adj" fmla="val 12000"/>
            </a:avLst>
          </a:prstGeom>
          <a:solidFill>
            <a:srgbClr val="031F3E"/>
          </a:solidFill>
          <a:ln w="12700">
            <a:solidFill>
              <a:srgbClr val="00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cxnSp>
        <p:nvCxnSpPr>
          <p:cNvPr id="55" name="Connector 54"/>
          <p:cNvCxnSpPr/>
          <p:nvPr/>
        </p:nvCxnSpPr>
        <p:spPr>
          <a:xfrm>
            <a:off x="8475387" y="3372575"/>
            <a:ext cx="2513436" cy="0"/>
          </a:xfrm>
          <a:prstGeom prst="line">
            <a:avLst/>
          </a:prstGeom>
          <a:ln w="10160">
            <a:solidFill>
              <a:srgbClr val="0091E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727535" y="2120427"/>
            <a:ext cx="0" cy="2513436"/>
          </a:xfrm>
          <a:prstGeom prst="line">
            <a:avLst/>
          </a:prstGeom>
          <a:ln w="10160">
            <a:solidFill>
              <a:srgbClr val="0091E6"/>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9453342" y="3098382"/>
            <a:ext cx="548386" cy="548386"/>
          </a:xfrm>
          <a:prstGeom prst="ellipse">
            <a:avLst/>
          </a:prstGeom>
          <a:noFill/>
          <a:ln w="9525">
            <a:solidFill>
              <a:srgbClr val="00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sp>
        <p:nvSpPr>
          <p:cNvPr id="58" name="Oval 57"/>
          <p:cNvSpPr/>
          <p:nvPr/>
        </p:nvSpPr>
        <p:spPr>
          <a:xfrm>
            <a:off x="9224847" y="2869887"/>
            <a:ext cx="1005375" cy="1005375"/>
          </a:xfrm>
          <a:prstGeom prst="ellipse">
            <a:avLst/>
          </a:prstGeom>
          <a:noFill/>
          <a:ln w="9525">
            <a:solidFill>
              <a:srgbClr val="00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sp>
        <p:nvSpPr>
          <p:cNvPr id="59" name="Oval 58"/>
          <p:cNvSpPr/>
          <p:nvPr/>
        </p:nvSpPr>
        <p:spPr>
          <a:xfrm>
            <a:off x="8996353" y="2641393"/>
            <a:ext cx="1462363" cy="1462363"/>
          </a:xfrm>
          <a:prstGeom prst="ellipse">
            <a:avLst/>
          </a:prstGeom>
          <a:noFill/>
          <a:ln w="9525">
            <a:solidFill>
              <a:srgbClr val="009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sp>
        <p:nvSpPr>
          <p:cNvPr id="60" name="Oval 59"/>
          <p:cNvSpPr/>
          <p:nvPr/>
        </p:nvSpPr>
        <p:spPr>
          <a:xfrm>
            <a:off x="8767859" y="2412899"/>
            <a:ext cx="1919351" cy="1919351"/>
          </a:xfrm>
          <a:prstGeom prst="ellipse">
            <a:avLst/>
          </a:prstGeom>
          <a:noFill/>
          <a:ln w="9525">
            <a:solidFill>
              <a:srgbClr val="009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cxnSp>
        <p:nvCxnSpPr>
          <p:cNvPr id="61" name="Connector 60"/>
          <p:cNvCxnSpPr/>
          <p:nvPr/>
        </p:nvCxnSpPr>
        <p:spPr>
          <a:xfrm flipV="1">
            <a:off x="9727535" y="2632254"/>
            <a:ext cx="932256" cy="740321"/>
          </a:xfrm>
          <a:prstGeom prst="line">
            <a:avLst/>
          </a:prstGeom>
          <a:ln w="25400">
            <a:solidFill>
              <a:srgbClr val="00DCF5"/>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8932375" y="3089242"/>
            <a:ext cx="127957" cy="127957"/>
          </a:xfrm>
          <a:prstGeom prst="ellipse">
            <a:avLst/>
          </a:prstGeom>
          <a:solidFill>
            <a:srgbClr val="0091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sp>
        <p:nvSpPr>
          <p:cNvPr id="63" name="Oval 62"/>
          <p:cNvSpPr/>
          <p:nvPr/>
        </p:nvSpPr>
        <p:spPr>
          <a:xfrm>
            <a:off x="9096891" y="3829563"/>
            <a:ext cx="127957" cy="127957"/>
          </a:xfrm>
          <a:prstGeom prst="ellipse">
            <a:avLst/>
          </a:prstGeom>
          <a:solidFill>
            <a:srgbClr val="00E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sp>
        <p:nvSpPr>
          <p:cNvPr id="64" name="Oval 63"/>
          <p:cNvSpPr/>
          <p:nvPr/>
        </p:nvSpPr>
        <p:spPr>
          <a:xfrm>
            <a:off x="9983448" y="4186014"/>
            <a:ext cx="127957" cy="127957"/>
          </a:xfrm>
          <a:prstGeom prst="ellipse">
            <a:avLst/>
          </a:prstGeom>
          <a:solidFill>
            <a:srgbClr val="B46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sp>
        <p:nvSpPr>
          <p:cNvPr id="65" name="Oval 64"/>
          <p:cNvSpPr/>
          <p:nvPr/>
        </p:nvSpPr>
        <p:spPr>
          <a:xfrm>
            <a:off x="10504415" y="2760211"/>
            <a:ext cx="118817" cy="118817"/>
          </a:xfrm>
          <a:prstGeom prst="ellipse">
            <a:avLst/>
          </a:prstGeom>
          <a:solidFill>
            <a:srgbClr val="00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sp>
        <p:nvSpPr>
          <p:cNvPr id="66" name="Rounded Rectangle 65"/>
          <p:cNvSpPr/>
          <p:nvPr/>
        </p:nvSpPr>
        <p:spPr>
          <a:xfrm>
            <a:off x="8219473" y="4661282"/>
            <a:ext cx="3016124" cy="438709"/>
          </a:xfrm>
          <a:prstGeom prst="roundRect">
            <a:avLst>
              <a:gd name="adj" fmla="val 12000"/>
            </a:avLst>
          </a:prstGeom>
          <a:solidFill>
            <a:srgbClr val="021630"/>
          </a:solidFill>
          <a:ln w="12700">
            <a:solidFill>
              <a:srgbClr val="009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p>
        </p:txBody>
      </p:sp>
      <p:cxnSp>
        <p:nvCxnSpPr>
          <p:cNvPr id="67" name="Connector 66"/>
          <p:cNvCxnSpPr/>
          <p:nvPr/>
        </p:nvCxnSpPr>
        <p:spPr>
          <a:xfrm flipV="1">
            <a:off x="8374849" y="4862357"/>
            <a:ext cx="118817" cy="18280"/>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493666" y="4807519"/>
            <a:ext cx="118817" cy="54839"/>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612483" y="4807519"/>
            <a:ext cx="118817" cy="82258"/>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731300" y="4825799"/>
            <a:ext cx="118817" cy="63978"/>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850117" y="4825798"/>
            <a:ext cx="118817" cy="109677"/>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8968934" y="4853218"/>
            <a:ext cx="118817" cy="82258"/>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9087751" y="4743541"/>
            <a:ext cx="118817" cy="109677"/>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206568" y="4743540"/>
            <a:ext cx="118817" cy="164516"/>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9325385" y="4798379"/>
            <a:ext cx="118817" cy="109677"/>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9444202" y="4798379"/>
            <a:ext cx="118817" cy="155376"/>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9563019" y="4844078"/>
            <a:ext cx="118817" cy="109677"/>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681836" y="4844078"/>
            <a:ext cx="118817" cy="36559"/>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9800653" y="4789239"/>
            <a:ext cx="118817" cy="91398"/>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9919470" y="4789239"/>
            <a:ext cx="118817" cy="127957"/>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0038287" y="4752680"/>
            <a:ext cx="118817" cy="164516"/>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0157104" y="4752680"/>
            <a:ext cx="118817" cy="146236"/>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0275921" y="4834938"/>
            <a:ext cx="118817" cy="63978"/>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394738" y="4834938"/>
            <a:ext cx="118817" cy="91398"/>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0513555" y="4844078"/>
            <a:ext cx="118817" cy="82258"/>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632372" y="4844078"/>
            <a:ext cx="118817" cy="36559"/>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0751189" y="4798379"/>
            <a:ext cx="118817" cy="82258"/>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0870006" y="4798379"/>
            <a:ext cx="118817" cy="82258"/>
          </a:xfrm>
          <a:prstGeom prst="line">
            <a:avLst/>
          </a:prstGeom>
          <a:ln w="1524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8274311" y="4734401"/>
            <a:ext cx="91398" cy="0"/>
          </a:xfrm>
          <a:prstGeom prst="line">
            <a:avLst/>
          </a:prstGeom>
          <a:ln w="889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274312" y="4734401"/>
            <a:ext cx="0" cy="73118"/>
          </a:xfrm>
          <a:prstGeom prst="line">
            <a:avLst/>
          </a:prstGeom>
          <a:ln w="889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a:off x="11080220" y="4734401"/>
            <a:ext cx="91398" cy="0"/>
          </a:xfrm>
          <a:prstGeom prst="line">
            <a:avLst/>
          </a:prstGeom>
          <a:ln w="889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1171618" y="4734401"/>
            <a:ext cx="0" cy="73118"/>
          </a:xfrm>
          <a:prstGeom prst="line">
            <a:avLst/>
          </a:prstGeom>
          <a:ln w="889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74311" y="5036013"/>
            <a:ext cx="91398" cy="0"/>
          </a:xfrm>
          <a:prstGeom prst="line">
            <a:avLst/>
          </a:prstGeom>
          <a:ln w="889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8274312" y="4962895"/>
            <a:ext cx="0" cy="73118"/>
          </a:xfrm>
          <a:prstGeom prst="line">
            <a:avLst/>
          </a:prstGeom>
          <a:ln w="889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a:off x="11080220" y="5036013"/>
            <a:ext cx="91398" cy="0"/>
          </a:xfrm>
          <a:prstGeom prst="line">
            <a:avLst/>
          </a:prstGeom>
          <a:ln w="8890">
            <a:solidFill>
              <a:srgbClr val="00DCF5"/>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11171618" y="4962895"/>
            <a:ext cx="0" cy="73118"/>
          </a:xfrm>
          <a:prstGeom prst="line">
            <a:avLst/>
          </a:prstGeom>
          <a:ln w="8890">
            <a:solidFill>
              <a:srgbClr val="00DCF5"/>
            </a:solidFill>
          </a:ln>
        </p:spPr>
        <p:style>
          <a:lnRef idx="2">
            <a:schemeClr val="accent1"/>
          </a:lnRef>
          <a:fillRef idx="0">
            <a:schemeClr val="accent1"/>
          </a:fillRef>
          <a:effectRef idx="1">
            <a:schemeClr val="accent1"/>
          </a:effectRef>
          <a:fontRef idx="minor">
            <a:schemeClr val="tx1"/>
          </a:fontRef>
        </p:style>
      </p:cxnSp>
      <p:sp>
        <p:nvSpPr>
          <p:cNvPr id="101" name="Slide Number Placeholder 100"/>
          <p:cNvSpPr>
            <a:spLocks noGrp="1"/>
          </p:cNvSpPr>
          <p:nvPr>
            <p:ph type="sldNum" sz="quarter" idx="12"/>
          </p:nvPr>
        </p:nvSpPr>
        <p:spPr>
          <a:xfrm>
            <a:off x="9744795" y="6374570"/>
            <a:ext cx="2133600" cy="365125"/>
          </a:xfrm>
        </p:spPr>
        <p:txBody>
          <a:bodyPr/>
          <a:lstStyle/>
          <a:p>
            <a:fld id="{C1FF6DA9-008F-8B48-92A6-B652298478BF}" type="slidenum">
              <a:rPr lang="en-US" b="1" smtClean="0">
                <a:solidFill>
                  <a:srgbClr val="FFFF00"/>
                </a:solidFill>
              </a:rPr>
              <a:t>12</a:t>
            </a:fld>
            <a:endParaRPr lang="en-US" b="1">
              <a:solidFill>
                <a:srgbClr val="FFFF00"/>
              </a:solidFill>
            </a:endParaRPr>
          </a:p>
        </p:txBody>
      </p:sp>
    </p:spTree>
    <p:extLst>
      <p:ext uri="{BB962C8B-B14F-4D97-AF65-F5344CB8AC3E}">
        <p14:creationId xmlns:p14="http://schemas.microsoft.com/office/powerpoint/2010/main" val="7029415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TotalTime>
  <Words>1222</Words>
  <Application>Microsoft Office PowerPoint</Application>
  <PresentationFormat>Widescreen</PresentationFormat>
  <Paragraphs>166</Paragraphs>
  <Slides>12</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Aptos</vt:lpstr>
      <vt:lpstr>Aptos Display</vt:lpstr>
      <vt:lpstr>Arial</vt:lpstr>
      <vt:lpstr>Arial Unicode MS</vt:lpstr>
      <vt:lpstr>Calibri</vt:lpstr>
      <vt:lpstr>Cambria Math</vt:lpstr>
      <vt:lpstr>Consolas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Vinod Patel</dc:creator>
  <cp:keywords/>
  <dc:description>generated using python-pptx</dc:description>
  <cp:lastModifiedBy>Vinod Patel</cp:lastModifiedBy>
  <cp:revision>22</cp:revision>
  <dcterms:created xsi:type="dcterms:W3CDTF">2013-01-27T09:14:16Z</dcterms:created>
  <dcterms:modified xsi:type="dcterms:W3CDTF">2026-10-23T16:52:56Z</dcterms:modified>
  <cp:category/>
</cp:coreProperties>
</file>